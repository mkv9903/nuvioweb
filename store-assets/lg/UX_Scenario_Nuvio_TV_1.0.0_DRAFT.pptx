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907588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44212-4632-B9F5-B2FC-2B1FD82D5804}" v="30" dt="2026-08-27T07:35:20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User-provided LG UX Scenario Document File Version 4.4 template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NuvioTVSmart/appinfo.json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NuvioTVSmart/store-assets/docs/lg-submission-data.md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User-provided LG UX Scenario Document File Version 4.4 template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NuvioTVSmart/appinfo.json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NuvioTVSmart/store-assets/docs/lg-submission-data.md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Generated from editable artifact-tool table source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LG UX Scenario Document File Version 4.4 template</a:t>
            </a:r>
          </a:p>
          <a:p>
            <a:r>
              <a:t>- Submission date is the document preparation date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User-provided LG UX Scenario Document File Version 4.4 template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NuvioTVSmart/store-assets/docs/lg-submission-data.md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NuvioTVSmart/js/ui/screens/account/authSignInScreen.js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NuvioTVSmart/js/ui/screens/account/authQrSignInScreen.js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NuvioTVSmart/store-assets/screenshots/05-appearance-1920x1080.png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NuvioTVSmart/assets/images/splash.png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NuvioTVSmart/js/core/profile/profileSelectionScreen.js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NuvioTVSmart/store-assets/docs/lg-submission-data.md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NuvioTVSmart/store-assets/screenshots/01-home-1920x1080.png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NuvioTVSmart/store-assets/docs/store-copy.md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NuvioTVSmart/js/ui/navigation/router.js</a:t>
            </a:r>
          </a:p>
          <a:p>
            <a:r>
              <a:t>- NuvioTVSmart/js/ui/screens/home/homeScreen.js</a:t>
            </a:r>
          </a:p>
          <a:p>
            <a:r>
              <a:t>- Generated from editable artifact-tool flow source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NuvioTVSmart/store-assets/screenshots/05-appearance-1920x1080.png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NuvioTVSmart/store-assets/docs/lg-submission-data.md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NuvioTVSmart/store-assets/screenshots/03-search-results-1920x1080.png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NuvioTVSmart/store-assets/docs/store-copy.md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NuvioTVSmart/store-assets/screenshots/04-library-1920x1080.png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NuvioTVSmart/store-assets/docs/lg-submission-data.md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NuvioTVSmart/store-assets/screenshots/04-library-1920x1080.png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NuvioTVSmart/store-assets/docs/lg-submission-data.md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NuvioTVSmart/store-assets/screenshots/04-library-1920x1080.png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NuvioTVSmart/store-assets/docs/lg-submission-data.md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NuvioTVSmart/store-assets/docs/lg-submission-data.md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NuvioTVSmart/store-assets/README.md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[/Sources]</a:t>
            </a:r>
            <a:endParaRPr sz="12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192880" y="115560"/>
            <a:ext cx="1593720" cy="460440"/>
          </a:xfrm>
          <a:prstGeom prst="rect">
            <a:avLst/>
          </a:prstGeom>
          <a:ln w="38160">
            <a:noFill/>
          </a:ln>
        </p:spPr>
      </p:pic>
      <p:sp>
        <p:nvSpPr>
          <p:cNvPr id="3" name="Line 5">
            <a:extLst>
              <a:ext uri="{FF2B5EF4-FFF2-40B4-BE49-F238E27FC236}">
                <a16:creationId xmlns:a16="http://schemas.microsoft.com/office/drawing/2014/main" id="{F5A3538B-01D6-4D59-9527-7526EFBC78B9}"/>
              </a:ext>
            </a:extLst>
          </p:cNvPr>
          <p:cNvSpPr>
            <a:spLocks noGrp="1"/>
          </p:cNvSpPr>
          <p:nvPr/>
        </p:nvSpPr>
        <p:spPr>
          <a:xfrm>
            <a:off x="2880" y="625320"/>
            <a:ext cx="9899640" cy="0"/>
          </a:xfrm>
          <a:prstGeom prst="line">
            <a:avLst/>
          </a:prstGeom>
          <a:ln w="9360">
            <a:solidFill>
              <a:srgbClr val="4040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B634F936-7FCB-4D17-8A76-66524A4571FA}"/>
              </a:ext>
            </a:extLst>
          </p:cNvPr>
          <p:cNvSpPr>
            <a:spLocks noGrp="1"/>
          </p:cNvSpPr>
          <p:nvPr/>
        </p:nvSpPr>
        <p:spPr>
          <a:xfrm>
            <a:off x="2880" y="6332400"/>
            <a:ext cx="9899640" cy="0"/>
          </a:xfrm>
          <a:prstGeom prst="line">
            <a:avLst/>
          </a:prstGeom>
          <a:ln w="9360">
            <a:solidFill>
              <a:srgbClr val="4040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9C23D9AC-97A4-42AE-A53D-781F0B654BF7}"/>
              </a:ext>
            </a:extLst>
          </p:cNvPr>
          <p:cNvSpPr>
            <a:spLocks noGrp="1"/>
          </p:cNvSpPr>
          <p:nvPr/>
        </p:nvSpPr>
        <p:spPr>
          <a:xfrm>
            <a:off x="2880" y="612720"/>
            <a:ext cx="9899640" cy="0"/>
          </a:xfrm>
          <a:prstGeom prst="line">
            <a:avLst/>
          </a:prstGeom>
          <a:ln w="9360">
            <a:solidFill>
              <a:srgbClr val="BFBFB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DAC72866-0E61-4A74-9C4A-B87D81F020B5}"/>
              </a:ext>
            </a:extLst>
          </p:cNvPr>
          <p:cNvSpPr>
            <a:spLocks noGrp="1"/>
          </p:cNvSpPr>
          <p:nvPr/>
        </p:nvSpPr>
        <p:spPr>
          <a:xfrm>
            <a:off x="1440" y="6343560"/>
            <a:ext cx="9901080" cy="0"/>
          </a:xfrm>
          <a:prstGeom prst="line">
            <a:avLst/>
          </a:prstGeom>
          <a:ln w="9360">
            <a:solidFill>
              <a:srgbClr val="BFBFB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7" name="MSIPCMContentMarking">
            <a:extLst>
              <a:ext uri="{FF2B5EF4-FFF2-40B4-BE49-F238E27FC236}">
                <a16:creationId xmlns:a16="http://schemas.microsoft.com/office/drawing/2014/main" id="{8220FC71-5953-45EA-A2ED-263A9D923D6A}"/>
              </a:ext>
            </a:extLst>
          </p:cNvPr>
          <p:cNvSpPr>
            <a:spLocks noGrp="1"/>
          </p:cNvSpPr>
          <p:nvPr/>
        </p:nvSpPr>
        <p:spPr>
          <a:xfrm>
            <a:off x="4114800" y="56520"/>
            <a:ext cx="1676160" cy="183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LGE Internal Use Only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46A0DD7-12CD-42C8-ABA5-F9B98AAE0B3A}"/>
              </a:ext>
            </a:extLst>
          </p:cNvPr>
          <p:cNvSpPr>
            <a:spLocks noGrp="1"/>
          </p:cNvSpPr>
          <p:nvPr/>
        </p:nvSpPr>
        <p:spPr>
          <a:xfrm>
            <a:off x="4449600" y="6524280"/>
            <a:ext cx="1006560" cy="2048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3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B4995F2-5E80-4EAE-BBE3-E9E161ABD02C}" type="slidenum">
              <a:rPr sz="1000" b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‹N›</a:t>
            </a:fld>
            <a:endParaRPr sz="10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192880" y="115560"/>
            <a:ext cx="1593720" cy="460440"/>
          </a:xfrm>
          <a:prstGeom prst="rect">
            <a:avLst/>
          </a:prstGeom>
          <a:ln w="38160">
            <a:noFill/>
          </a:ln>
        </p:spPr>
      </p:pic>
      <p:sp>
        <p:nvSpPr>
          <p:cNvPr id="10" name="Line 5">
            <a:extLst>
              <a:ext uri="{FF2B5EF4-FFF2-40B4-BE49-F238E27FC236}">
                <a16:creationId xmlns:a16="http://schemas.microsoft.com/office/drawing/2014/main" id="{FEEAF17F-79CC-49D8-B746-504ECE438DC8}"/>
              </a:ext>
            </a:extLst>
          </p:cNvPr>
          <p:cNvSpPr>
            <a:spLocks noGrp="1"/>
          </p:cNvSpPr>
          <p:nvPr/>
        </p:nvSpPr>
        <p:spPr>
          <a:xfrm>
            <a:off x="2880" y="625320"/>
            <a:ext cx="9899640" cy="0"/>
          </a:xfrm>
          <a:prstGeom prst="line">
            <a:avLst/>
          </a:prstGeom>
          <a:ln w="9360">
            <a:solidFill>
              <a:srgbClr val="4040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3772118F-3014-4A32-BE32-348EA102811B}"/>
              </a:ext>
            </a:extLst>
          </p:cNvPr>
          <p:cNvSpPr>
            <a:spLocks noGrp="1"/>
          </p:cNvSpPr>
          <p:nvPr/>
        </p:nvSpPr>
        <p:spPr>
          <a:xfrm>
            <a:off x="2880" y="6332400"/>
            <a:ext cx="9899640" cy="0"/>
          </a:xfrm>
          <a:prstGeom prst="line">
            <a:avLst/>
          </a:prstGeom>
          <a:ln w="9360">
            <a:solidFill>
              <a:srgbClr val="4040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12" name="Line 5">
            <a:extLst>
              <a:ext uri="{FF2B5EF4-FFF2-40B4-BE49-F238E27FC236}">
                <a16:creationId xmlns:a16="http://schemas.microsoft.com/office/drawing/2014/main" id="{2C2CCE31-6060-433C-9D56-421DE786E7C1}"/>
              </a:ext>
            </a:extLst>
          </p:cNvPr>
          <p:cNvSpPr>
            <a:spLocks noGrp="1"/>
          </p:cNvSpPr>
          <p:nvPr/>
        </p:nvSpPr>
        <p:spPr>
          <a:xfrm>
            <a:off x="2880" y="612720"/>
            <a:ext cx="9899640" cy="0"/>
          </a:xfrm>
          <a:prstGeom prst="line">
            <a:avLst/>
          </a:prstGeom>
          <a:ln w="9360">
            <a:solidFill>
              <a:srgbClr val="BFBFB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F2B6CAC0-1644-4D96-A793-AD35B32CB896}"/>
              </a:ext>
            </a:extLst>
          </p:cNvPr>
          <p:cNvSpPr>
            <a:spLocks noGrp="1"/>
          </p:cNvSpPr>
          <p:nvPr/>
        </p:nvSpPr>
        <p:spPr>
          <a:xfrm>
            <a:off x="1440" y="6343560"/>
            <a:ext cx="9901080" cy="0"/>
          </a:xfrm>
          <a:prstGeom prst="line">
            <a:avLst/>
          </a:prstGeom>
          <a:ln w="9360">
            <a:solidFill>
              <a:srgbClr val="BFBFB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14" name="MSIPCMContentMarking">
            <a:extLst>
              <a:ext uri="{FF2B5EF4-FFF2-40B4-BE49-F238E27FC236}">
                <a16:creationId xmlns:a16="http://schemas.microsoft.com/office/drawing/2014/main" id="{D107F759-7E9D-43D0-9D5C-B71B03C14AC8}"/>
              </a:ext>
            </a:extLst>
          </p:cNvPr>
          <p:cNvSpPr>
            <a:spLocks noGrp="1"/>
          </p:cNvSpPr>
          <p:nvPr/>
        </p:nvSpPr>
        <p:spPr>
          <a:xfrm>
            <a:off x="4114800" y="56520"/>
            <a:ext cx="1676160" cy="183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LGE Internal Use Only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75E43DFA-3B18-422A-A506-C42552554FDE}"/>
              </a:ext>
            </a:extLst>
          </p:cNvPr>
          <p:cNvSpPr>
            <a:spLocks noGrp="1"/>
          </p:cNvSpPr>
          <p:nvPr/>
        </p:nvSpPr>
        <p:spPr>
          <a:xfrm>
            <a:off x="4449600" y="6524280"/>
            <a:ext cx="1006560" cy="2048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3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08D8A53-5395-4992-8221-30106B19A5DE}" type="slidenum">
              <a:rPr sz="1000" b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‹N›</a:t>
            </a:fld>
            <a:endParaRPr sz="10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SIPCMContentMarking">
            <a:extLst>
              <a:ext uri="{FF2B5EF4-FFF2-40B4-BE49-F238E27FC236}">
                <a16:creationId xmlns:a16="http://schemas.microsoft.com/office/drawing/2014/main" id="{D5C7760D-0DFE-41BB-8B4E-79A425038A03}"/>
              </a:ext>
            </a:extLst>
          </p:cNvPr>
          <p:cNvSpPr>
            <a:spLocks noGrp="1"/>
          </p:cNvSpPr>
          <p:nvPr/>
        </p:nvSpPr>
        <p:spPr>
          <a:xfrm>
            <a:off x="4114800" y="56520"/>
            <a:ext cx="1676160" cy="183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LGE Internal Use Only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17" name="직사각형 2">
            <a:extLst>
              <a:ext uri="{FF2B5EF4-FFF2-40B4-BE49-F238E27FC236}">
                <a16:creationId xmlns:a16="http://schemas.microsoft.com/office/drawing/2014/main" id="{D36AAAB8-B24B-44BF-BD82-86E14CB8D383}"/>
              </a:ext>
            </a:extLst>
          </p:cNvPr>
          <p:cNvSpPr>
            <a:spLocks noGrp="1"/>
          </p:cNvSpPr>
          <p:nvPr/>
        </p:nvSpPr>
        <p:spPr>
          <a:xfrm>
            <a:off x="2880" y="1773000"/>
            <a:ext cx="9899640" cy="71640"/>
          </a:xfrm>
          <a:prstGeom prst="rect">
            <a:avLst/>
          </a:prstGeom>
          <a:solidFill>
            <a:srgbClr val="D9D9D9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4840" rIns="90000" bIns="24840" anchor="t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18" name="직사각형 3">
            <a:extLst>
              <a:ext uri="{FF2B5EF4-FFF2-40B4-BE49-F238E27FC236}">
                <a16:creationId xmlns:a16="http://schemas.microsoft.com/office/drawing/2014/main" id="{F5ACCE66-286E-408A-B83D-3D9D05B03B68}"/>
              </a:ext>
            </a:extLst>
          </p:cNvPr>
          <p:cNvSpPr>
            <a:spLocks noGrp="1"/>
          </p:cNvSpPr>
          <p:nvPr/>
        </p:nvSpPr>
        <p:spPr>
          <a:xfrm>
            <a:off x="2880" y="1844640"/>
            <a:ext cx="9899640" cy="144360"/>
          </a:xfrm>
          <a:prstGeom prst="rect">
            <a:avLst/>
          </a:prstGeom>
          <a:solidFill>
            <a:srgbClr val="BFBFBF"/>
          </a:solid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pic>
        <p:nvPicPr>
          <p:cNvPr id="23" name="그림 3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192880" y="77760"/>
            <a:ext cx="1593720" cy="460080"/>
          </a:xfrm>
          <a:prstGeom prst="rect">
            <a:avLst/>
          </a:prstGeom>
          <a:ln w="38160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396B8409-4827-4873-8EA0-DAEFB728724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0" y="1052280"/>
            <a:ext cx="9905760" cy="720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Nuvio TV</a:t>
            </a:r>
            <a:endParaRPr sz="2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28" name="텍스트 개체 틀 7">
            <a:extLst>
              <a:ext uri="{FF2B5EF4-FFF2-40B4-BE49-F238E27FC236}">
                <a16:creationId xmlns:a16="http://schemas.microsoft.com/office/drawing/2014/main" id="{E3102799-7431-48EC-B704-0088D763E099}"/>
              </a:ext>
            </a:extLst>
          </p:cNvPr>
          <p:cNvSpPr>
            <a:spLocks noGrp="1"/>
          </p:cNvSpPr>
          <p:nvPr/>
        </p:nvSpPr>
        <p:spPr>
          <a:xfrm>
            <a:off x="272880" y="188640"/>
            <a:ext cx="4464000" cy="287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46800" rIns="0" bIns="46800" anchor="ctr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7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5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UX Scenario Document File Version 4.4</a:t>
            </a:r>
            <a:endParaRPr sz="15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graphicFrame>
        <p:nvGraphicFramePr>
          <p:cNvPr id="32" name="Tabella 31"/>
          <p:cNvGraphicFramePr/>
          <p:nvPr>
            <p:extLst>
              <p:ext uri="{D42A27DB-BD31-4B8C-83A1-F6EECF244321}">
                <p14:modId xmlns:p14="http://schemas.microsoft.com/office/powerpoint/2010/main" val="4135160740"/>
              </p:ext>
            </p:extLst>
          </p:nvPr>
        </p:nvGraphicFramePr>
        <p:xfrm>
          <a:off x="4520880" y="4797360"/>
          <a:ext cx="4932360" cy="1494000"/>
        </p:xfrm>
        <a:graphic>
          <a:graphicData uri="http://schemas.openxmlformats.org/drawingml/2006/table">
            <a:tbl>
              <a:tblPr/>
              <a:tblGrid>
                <a:gridCol w="183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600" b="1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Submission Date</a:t>
                      </a:r>
                      <a:endParaRPr sz="16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600" b="0" i="1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27.08.2026</a:t>
                      </a:r>
                      <a:endParaRPr sz="16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600" b="1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 Ver.</a:t>
                      </a:r>
                      <a:endParaRPr sz="16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600" b="0" i="1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1.0.0</a:t>
                      </a:r>
                      <a:endParaRPr sz="16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600" b="1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 Developer</a:t>
                      </a:r>
                      <a:endParaRPr sz="16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600" b="0" i="1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Name: </a:t>
                      </a:r>
                      <a:r>
                        <a:rPr sz="1600" b="0" i="1" u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Nuvio</a:t>
                      </a:r>
                      <a:r>
                        <a:rPr sz="1600" b="0" i="1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Media</a:t>
                      </a:r>
                      <a:endParaRPr sz="1600" b="0" u="none" dirty="0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600" b="0" i="1" u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E-mail address: </a:t>
                      </a:r>
                      <a:r>
                        <a:rPr sz="1600" b="0" i="1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nayiftapframe@gmail.com</a:t>
                      </a:r>
                      <a:endParaRPr sz="1600" b="0" i="1" u="none">
                        <a:solidFill>
                          <a:srgbClr val="000000"/>
                        </a:solidFill>
                        <a:latin typeface="Arial"/>
                        <a:ea typeface="Wingdings 2"/>
                        <a:cs typeface="Arial"/>
                      </a:endParaRPr>
                    </a:p>
                  </a:txBody>
                  <a:tcPr>
                    <a:lnL w="5760">
                      <a:solidFill>
                        <a:srgbClr val="BFBFBF"/>
                      </a:solidFill>
                      <a:prstDash val="solid"/>
                    </a:lnL>
                    <a:lnR w="5760">
                      <a:solidFill>
                        <a:srgbClr val="BFBFBF"/>
                      </a:solidFill>
                      <a:prstDash val="solid"/>
                    </a:lnR>
                    <a:lnT w="5760">
                      <a:solidFill>
                        <a:srgbClr val="BFBFBF"/>
                      </a:solidFill>
                      <a:prstDash val="solid"/>
                    </a:lnT>
                    <a:lnB w="57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39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9">
            <a:extLst>
              <a:ext uri="{FF2B5EF4-FFF2-40B4-BE49-F238E27FC236}">
                <a16:creationId xmlns:a16="http://schemas.microsoft.com/office/drawing/2014/main" id="{1E1A1BAE-2095-4F11-B45E-1AB3EE337EF5}"/>
              </a:ext>
            </a:extLst>
          </p:cNvPr>
          <p:cNvSpPr>
            <a:spLocks noGrp="1"/>
          </p:cNvSpPr>
          <p:nvPr/>
        </p:nvSpPr>
        <p:spPr>
          <a:xfrm>
            <a:off x="2288880" y="2409480"/>
            <a:ext cx="4896000" cy="2880000"/>
          </a:xfrm>
          <a:prstGeom prst="rect">
            <a:avLst/>
          </a:prstGeom>
          <a:noFill/>
          <a:ln w="126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31" name="PlaceHolder 1">
            <a:extLst>
              <a:ext uri="{FF2B5EF4-FFF2-40B4-BE49-F238E27FC236}">
                <a16:creationId xmlns:a16="http://schemas.microsoft.com/office/drawing/2014/main" id="{1CBF43E6-B3EA-4091-86FD-7A7DF97518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007800" y="1483920"/>
            <a:ext cx="4032360" cy="523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194400" indent="-194400" algn="l">
              <a:lnSpc>
                <a:spcPct val="100000"/>
              </a:lnSpc>
              <a:spcBef>
                <a:spcPts val="17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Table of Contents</a:t>
            </a:r>
            <a:endParaRPr sz="2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32" name="텍스트 개체 틀 16">
            <a:extLst>
              <a:ext uri="{FF2B5EF4-FFF2-40B4-BE49-F238E27FC236}">
                <a16:creationId xmlns:a16="http://schemas.microsoft.com/office/drawing/2014/main" id="{3CBBBBCA-5067-4464-B33C-03E785976C60}"/>
              </a:ext>
            </a:extLst>
          </p:cNvPr>
          <p:cNvSpPr>
            <a:spLocks noGrp="1"/>
          </p:cNvSpPr>
          <p:nvPr/>
        </p:nvSpPr>
        <p:spPr>
          <a:xfrm>
            <a:off x="3584520" y="2563560"/>
            <a:ext cx="3816360" cy="2579244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marL="343080" indent="-343080"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Basic Information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43080" indent="-343080"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Document History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43080" indent="-343080"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 Page Description (Guideline)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43080" indent="-343080"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 Detailed Login Information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43080" indent="-343080"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 Main Page Description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43080" indent="-343080"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 Sub Page Description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43080" indent="-343080"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 Paid Content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43080" indent="-343080"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8. In-App Ad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151598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표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5120" y="664920"/>
            <a:ext cx="9588600" cy="5639040"/>
          </a:xfrm>
          <a:prstGeom prst="rect">
            <a:avLst/>
          </a:prstGeom>
          <a:ln w="38160">
            <a:noFill/>
          </a:ln>
        </p:spPr>
      </p:pic>
      <p:sp>
        <p:nvSpPr>
          <p:cNvPr id="34" name="PlaceHolder 1">
            <a:extLst>
              <a:ext uri="{FF2B5EF4-FFF2-40B4-BE49-F238E27FC236}">
                <a16:creationId xmlns:a16="http://schemas.microsoft.com/office/drawing/2014/main" id="{33137EA3-293C-46A2-B5FF-F88568749BE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360" y="188280"/>
            <a:ext cx="7761240" cy="368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194400" indent="-194400" algn="l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Basic Information</a:t>
            </a:r>
            <a:endParaRPr sz="1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33056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ella 37"/>
          <p:cNvGraphicFramePr/>
          <p:nvPr/>
        </p:nvGraphicFramePr>
        <p:xfrm>
          <a:off x="166680" y="765000"/>
          <a:ext cx="9501120" cy="5397480"/>
        </p:xfrm>
        <a:graphic>
          <a:graphicData uri="http://schemas.openxmlformats.org/drawingml/2006/table">
            <a:tbl>
              <a:tblPr/>
              <a:tblGrid>
                <a:gridCol w="73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8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0760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No.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800" marB="46440" anchor="ctr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Sent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800" marB="46440" anchor="ctr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800" marB="46440" anchor="ctr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File Name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800" marB="46440" anchor="ctr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Contents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800" marB="46440" anchor="ctr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80"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r>
                        <a:rPr sz="1100" b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11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r>
                        <a:rPr sz="1100" b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27.08.2026</a:t>
                      </a:r>
                      <a:endParaRPr sz="11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r>
                        <a:rPr sz="1100" b="0" u="non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1.0.0</a:t>
                      </a:r>
                      <a:endParaRPr sz="11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r>
                        <a:rPr sz="11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Nuvio_TV_UX_Scenario_1.0.0</a:t>
                      </a:r>
                      <a:endParaRPr sz="11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r>
                        <a:rPr sz="11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Initial QA submission draft</a:t>
                      </a:r>
                      <a:endParaRPr sz="11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80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520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880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880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160"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4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5508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880"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2360"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3880"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5760">
                      <a:solidFill>
                        <a:srgbClr val="000000"/>
                      </a:solidFill>
                      <a:prstDash val="dash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0200"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>
                      <a:noFill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 w="5760">
                      <a:solidFill>
                        <a:srgbClr val="000000"/>
                      </a:solidFill>
                      <a:prstDash val="dash"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8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333080" algn="l"/>
                          <a:tab pos="1078236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89640" marR="89640" marT="49320" marB="46440" anchor="ctr">
                    <a:lnL w="5760">
                      <a:solidFill>
                        <a:srgbClr val="000000"/>
                      </a:solidFill>
                      <a:prstDash val="dash"/>
                    </a:lnL>
                    <a:lnR>
                      <a:noFill/>
                    </a:lnR>
                    <a:lnT w="5760">
                      <a:solidFill>
                        <a:srgbClr val="000000"/>
                      </a:solidFill>
                      <a:prstDash val="dash"/>
                    </a:lnT>
                    <a:lnB w="28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6" name="Text Box 163">
            <a:extLst>
              <a:ext uri="{FF2B5EF4-FFF2-40B4-BE49-F238E27FC236}">
                <a16:creationId xmlns:a16="http://schemas.microsoft.com/office/drawing/2014/main" id="{1382BB70-4A7D-4D41-9872-C8D5B81BA7C8}"/>
              </a:ext>
            </a:extLst>
          </p:cNvPr>
          <p:cNvSpPr>
            <a:spLocks noGrp="1"/>
          </p:cNvSpPr>
          <p:nvPr/>
        </p:nvSpPr>
        <p:spPr>
          <a:xfrm>
            <a:off x="0" y="188640"/>
            <a:ext cx="7759440" cy="368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640" tIns="46440" rIns="89640" bIns="4644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2960" algn="l"/>
                <a:tab pos="1827360" algn="l"/>
                <a:tab pos="2741760" algn="l"/>
                <a:tab pos="3656160" algn="l"/>
                <a:tab pos="4570560" algn="l"/>
                <a:tab pos="5484960" algn="l"/>
                <a:tab pos="6399360" algn="l"/>
                <a:tab pos="7313760" algn="l"/>
                <a:tab pos="8228160" algn="l"/>
                <a:tab pos="9142560" algn="l"/>
                <a:tab pos="1005696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Document History</a:t>
            </a:r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563968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14">
            <a:extLst>
              <a:ext uri="{FF2B5EF4-FFF2-40B4-BE49-F238E27FC236}">
                <a16:creationId xmlns:a16="http://schemas.microsoft.com/office/drawing/2014/main" id="{DF49DDE9-04D6-4DD0-8057-A8DD90FD3D68}"/>
              </a:ext>
            </a:extLst>
          </p:cNvPr>
          <p:cNvSpPr>
            <a:spLocks noGrp="1"/>
          </p:cNvSpPr>
          <p:nvPr/>
        </p:nvSpPr>
        <p:spPr>
          <a:xfrm>
            <a:off x="9360" y="4884480"/>
            <a:ext cx="9906120" cy="1432080"/>
          </a:xfrm>
          <a:prstGeom prst="rect">
            <a:avLst/>
          </a:prstGeom>
          <a:solidFill>
            <a:srgbClr val="DDDDDD"/>
          </a:solidFill>
          <a:ln w="9360">
            <a:solidFill>
              <a:srgbClr val="7F7F7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Information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-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Every numbered marker identifies a focusable control or navigation area.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The right-side table explains what the QA reviewer should select and what result to expect.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3CAC7A9C-21DD-4350-B7D4-2E4CD20A72B1}"/>
              </a:ext>
            </a:extLst>
          </p:cNvPr>
          <p:cNvSpPr>
            <a:spLocks noGrp="1"/>
          </p:cNvSpPr>
          <p:nvPr/>
        </p:nvSpPr>
        <p:spPr>
          <a:xfrm>
            <a:off x="166680" y="642960"/>
            <a:ext cx="26812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How to read this scenario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C5CF0DA6-EDD9-4374-8775-2B162FFE6A6F}"/>
              </a:ext>
            </a:extLst>
          </p:cNvPr>
          <p:cNvSpPr>
            <a:spLocks noGrp="1"/>
          </p:cNvSpPr>
          <p:nvPr/>
        </p:nvSpPr>
        <p:spPr>
          <a:xfrm>
            <a:off x="344160" y="1036440"/>
            <a:ext cx="6553440" cy="3687840"/>
          </a:xfrm>
          <a:prstGeom prst="rect">
            <a:avLst/>
          </a:prstGeom>
          <a:noFill/>
          <a:ln w="2844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40" name="PlaceHolder 1">
            <a:extLst>
              <a:ext uri="{FF2B5EF4-FFF2-40B4-BE49-F238E27FC236}">
                <a16:creationId xmlns:a16="http://schemas.microsoft.com/office/drawing/2014/main" id="{99545444-0698-4D9D-9A11-BAD83600937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360" y="188280"/>
            <a:ext cx="7761240" cy="368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194400" indent="-194400" algn="l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 Page Description (Guideline)</a:t>
            </a:r>
            <a:endParaRPr sz="1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graphicFrame>
        <p:nvGraphicFramePr>
          <p:cNvPr id="49" name="Tabella 48"/>
          <p:cNvGraphicFramePr/>
          <p:nvPr/>
        </p:nvGraphicFramePr>
        <p:xfrm>
          <a:off x="7238880" y="642600"/>
          <a:ext cx="2666880" cy="4205640"/>
        </p:xfrm>
        <a:graphic>
          <a:graphicData uri="http://schemas.openxmlformats.org/drawingml/2006/table">
            <a:tbl>
              <a:tblPr/>
              <a:tblGrid>
                <a:gridCol w="43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2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180000" marR="36000" marT="46800" marB="46800" anchor="ctr">
                    <a:lnL w="14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Identify a focusable control or navigation area.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Describe the remote action and expected result.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2" name="TextBox 23">
            <a:extLst>
              <a:ext uri="{FF2B5EF4-FFF2-40B4-BE49-F238E27FC236}">
                <a16:creationId xmlns:a16="http://schemas.microsoft.com/office/drawing/2014/main" id="{44917877-BCDE-4764-ABE0-9CD7E8B9D79C}"/>
              </a:ext>
            </a:extLst>
          </p:cNvPr>
          <p:cNvSpPr>
            <a:spLocks noGrp="1"/>
          </p:cNvSpPr>
          <p:nvPr/>
        </p:nvSpPr>
        <p:spPr>
          <a:xfrm>
            <a:off x="487080" y="1196640"/>
            <a:ext cx="6337440" cy="18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Use the real Nuvio TV screen for each page.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Mark controls in reading order with unique numbers.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Describe the remote action and expected result in the table.</a:t>
            </a:r>
            <a:endParaRPr sz="13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Follow the launch, Home, Search, Library, Settings, and playback paths shown on the next pages.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43" name="TextBox 23">
            <a:extLst>
              <a:ext uri="{FF2B5EF4-FFF2-40B4-BE49-F238E27FC236}">
                <a16:creationId xmlns:a16="http://schemas.microsoft.com/office/drawing/2014/main" id="{659864F4-48B1-438B-9D0E-452F48551EE0}"/>
              </a:ext>
            </a:extLst>
          </p:cNvPr>
          <p:cNvSpPr>
            <a:spLocks noGrp="1"/>
          </p:cNvSpPr>
          <p:nvPr/>
        </p:nvSpPr>
        <p:spPr>
          <a:xfrm>
            <a:off x="0" y="5600520"/>
            <a:ext cx="9024840" cy="9775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*Note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The document describes Nuvio TV 1.0.0 for webOS 5.0+.</a:t>
            </a:r>
            <a:endParaRPr sz="11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Screenshots show catalog metadata/UI; Nuvio TV does not host or bundle video content.</a:t>
            </a:r>
            <a:endParaRPr sz="11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1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487498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그림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800" y="836280"/>
            <a:ext cx="7040520" cy="3961080"/>
          </a:xfrm>
          <a:prstGeom prst="rect">
            <a:avLst/>
          </a:prstGeom>
          <a:ln w="38160">
            <a:noFill/>
          </a:ln>
        </p:spPr>
      </p:pic>
      <p:graphicFrame>
        <p:nvGraphicFramePr>
          <p:cNvPr id="53" name="Tabella 52"/>
          <p:cNvGraphicFramePr/>
          <p:nvPr>
            <p:extLst>
              <p:ext uri="{D42A27DB-BD31-4B8C-83A1-F6EECF244321}">
                <p14:modId xmlns:p14="http://schemas.microsoft.com/office/powerpoint/2010/main" val="1307522825"/>
              </p:ext>
            </p:extLst>
          </p:nvPr>
        </p:nvGraphicFramePr>
        <p:xfrm>
          <a:off x="7238880" y="642600"/>
          <a:ext cx="2609640" cy="4287600"/>
        </p:xfrm>
        <a:graphic>
          <a:graphicData uri="http://schemas.openxmlformats.org/drawingml/2006/table">
            <a:tbl>
              <a:tblPr/>
              <a:tblGrid>
                <a:gridCol w="39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8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179640" marR="35640" anchor="ctr">
                    <a:lnL w="14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Open Settings &gt; Profiles/Account.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 Sign in.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8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Authentication options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QR: scan the code on the web account and approve.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Email: enter the dedicated QA email and password.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 or create a profile after authentication.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48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000" b="0" u="none" dirty="0">
                        <a:solidFill>
                          <a:srgbClr val="000000"/>
                        </a:solidFill>
                        <a:latin typeface="Arial"/>
                        <a:ea typeface="Wingdings 2"/>
                        <a:cs typeface="Arial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dirty="0"/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/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dirty="0"/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6" name="Text Box 3">
            <a:extLst>
              <a:ext uri="{FF2B5EF4-FFF2-40B4-BE49-F238E27FC236}">
                <a16:creationId xmlns:a16="http://schemas.microsoft.com/office/drawing/2014/main" id="{2B6A82F7-F061-4185-B6ED-7F2B4FE34D44}"/>
              </a:ext>
            </a:extLst>
          </p:cNvPr>
          <p:cNvSpPr>
            <a:spLocks noGrp="1"/>
          </p:cNvSpPr>
          <p:nvPr/>
        </p:nvSpPr>
        <p:spPr>
          <a:xfrm>
            <a:off x="2158920" y="2663640"/>
            <a:ext cx="288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②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47" name="직사각형 15">
            <a:extLst>
              <a:ext uri="{FF2B5EF4-FFF2-40B4-BE49-F238E27FC236}">
                <a16:creationId xmlns:a16="http://schemas.microsoft.com/office/drawing/2014/main" id="{F3FC672E-B9C7-468F-A647-72A13D42D09B}"/>
              </a:ext>
            </a:extLst>
          </p:cNvPr>
          <p:cNvSpPr>
            <a:spLocks noGrp="1"/>
          </p:cNvSpPr>
          <p:nvPr/>
        </p:nvSpPr>
        <p:spPr>
          <a:xfrm>
            <a:off x="0" y="5013000"/>
            <a:ext cx="9905760" cy="1295640"/>
          </a:xfrm>
          <a:prstGeom prst="rect">
            <a:avLst/>
          </a:prstGeom>
          <a:solidFill>
            <a:srgbClr val="DDDDDD"/>
          </a:solidFill>
          <a:ln w="9360">
            <a:solidFill>
              <a:srgbClr val="7F7F7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Information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Nuvio TV supports QR sign-in and email/password sign-in.</a:t>
            </a:r>
            <a:endParaRPr sz="11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Open Settings &gt; Profiles/Account, select Sign in, then choose QR or email.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After authentication, select or create a profile.</a:t>
            </a:r>
            <a:endParaRPr sz="11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1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*Required before upload: replace bracketed QA values with live publisher credentials and provider configuration.</a:t>
            </a:r>
            <a:endParaRPr sz="11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48" name="텍스트 개체 틀 16">
            <a:extLst>
              <a:ext uri="{FF2B5EF4-FFF2-40B4-BE49-F238E27FC236}">
                <a16:creationId xmlns:a16="http://schemas.microsoft.com/office/drawing/2014/main" id="{D3D92CDA-27D8-4B13-980C-F5C8081583CD}"/>
              </a:ext>
            </a:extLst>
          </p:cNvPr>
          <p:cNvSpPr>
            <a:spLocks noGrp="1"/>
          </p:cNvSpPr>
          <p:nvPr/>
        </p:nvSpPr>
        <p:spPr>
          <a:xfrm>
            <a:off x="0" y="188640"/>
            <a:ext cx="7761240" cy="368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marL="194400" indent="-194400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 Detailed Login Information</a:t>
            </a:r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49" name="Text Box 43">
            <a:extLst>
              <a:ext uri="{FF2B5EF4-FFF2-40B4-BE49-F238E27FC236}">
                <a16:creationId xmlns:a16="http://schemas.microsoft.com/office/drawing/2014/main" id="{DAF7D2EC-256B-4970-97D9-AEBBB582351A}"/>
              </a:ext>
            </a:extLst>
          </p:cNvPr>
          <p:cNvSpPr>
            <a:spLocks noGrp="1"/>
          </p:cNvSpPr>
          <p:nvPr/>
        </p:nvSpPr>
        <p:spPr>
          <a:xfrm>
            <a:off x="2158920" y="2328840"/>
            <a:ext cx="288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①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794569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림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520" y="915840"/>
            <a:ext cx="7040520" cy="3959280"/>
          </a:xfrm>
          <a:prstGeom prst="rect">
            <a:avLst/>
          </a:prstGeom>
          <a:ln w="38160">
            <a:noFill/>
          </a:ln>
        </p:spPr>
      </p:pic>
      <p:sp>
        <p:nvSpPr>
          <p:cNvPr id="51" name="직사각형 14">
            <a:extLst>
              <a:ext uri="{FF2B5EF4-FFF2-40B4-BE49-F238E27FC236}">
                <a16:creationId xmlns:a16="http://schemas.microsoft.com/office/drawing/2014/main" id="{4F0D20CB-F4DC-40CB-AC32-A99CC37A3AB0}"/>
              </a:ext>
            </a:extLst>
          </p:cNvPr>
          <p:cNvSpPr>
            <a:spLocks noGrp="1"/>
          </p:cNvSpPr>
          <p:nvPr/>
        </p:nvSpPr>
        <p:spPr>
          <a:xfrm>
            <a:off x="0" y="4943160"/>
            <a:ext cx="9905760" cy="1355760"/>
          </a:xfrm>
          <a:prstGeom prst="rect">
            <a:avLst/>
          </a:prstGeom>
          <a:solidFill>
            <a:srgbClr val="DDDDDD"/>
          </a:solidFill>
          <a:ln w="9360">
            <a:solidFill>
              <a:srgbClr val="7F7F7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Information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-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Splash is followed by onboarding/authentication.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Choose Guest, QR, or email sign-in; profile selection leads to Home.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52" name="TextBox 5">
            <a:extLst>
              <a:ext uri="{FF2B5EF4-FFF2-40B4-BE49-F238E27FC236}">
                <a16:creationId xmlns:a16="http://schemas.microsoft.com/office/drawing/2014/main" id="{73420964-779E-4739-8A64-0D969D3626C8}"/>
              </a:ext>
            </a:extLst>
          </p:cNvPr>
          <p:cNvSpPr>
            <a:spLocks noGrp="1"/>
          </p:cNvSpPr>
          <p:nvPr/>
        </p:nvSpPr>
        <p:spPr>
          <a:xfrm>
            <a:off x="166680" y="642960"/>
            <a:ext cx="26812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Start Page / first launch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53" name="Text Box 43">
            <a:extLst>
              <a:ext uri="{FF2B5EF4-FFF2-40B4-BE49-F238E27FC236}">
                <a16:creationId xmlns:a16="http://schemas.microsoft.com/office/drawing/2014/main" id="{544A4997-A62D-4030-8947-2047D5CB54F3}"/>
              </a:ext>
            </a:extLst>
          </p:cNvPr>
          <p:cNvSpPr>
            <a:spLocks noGrp="1"/>
          </p:cNvSpPr>
          <p:nvPr/>
        </p:nvSpPr>
        <p:spPr>
          <a:xfrm>
            <a:off x="2504880" y="1946160"/>
            <a:ext cx="2890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①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54" name="Text Box 3">
            <a:extLst>
              <a:ext uri="{FF2B5EF4-FFF2-40B4-BE49-F238E27FC236}">
                <a16:creationId xmlns:a16="http://schemas.microsoft.com/office/drawing/2014/main" id="{0F0ACFAD-F664-4A65-9C79-C860692ABFEB}"/>
              </a:ext>
            </a:extLst>
          </p:cNvPr>
          <p:cNvSpPr>
            <a:spLocks noGrp="1"/>
          </p:cNvSpPr>
          <p:nvPr/>
        </p:nvSpPr>
        <p:spPr>
          <a:xfrm>
            <a:off x="2847960" y="2492280"/>
            <a:ext cx="288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②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55" name="Text Box 4">
            <a:extLst>
              <a:ext uri="{FF2B5EF4-FFF2-40B4-BE49-F238E27FC236}">
                <a16:creationId xmlns:a16="http://schemas.microsoft.com/office/drawing/2014/main" id="{19536445-BC3A-4AF2-9C4D-02B6CDF616C9}"/>
              </a:ext>
            </a:extLst>
          </p:cNvPr>
          <p:cNvSpPr>
            <a:spLocks noGrp="1"/>
          </p:cNvSpPr>
          <p:nvPr/>
        </p:nvSpPr>
        <p:spPr>
          <a:xfrm>
            <a:off x="6032160" y="4365360"/>
            <a:ext cx="2890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③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56" name="PlaceHolder 1">
            <a:extLst>
              <a:ext uri="{FF2B5EF4-FFF2-40B4-BE49-F238E27FC236}">
                <a16:creationId xmlns:a16="http://schemas.microsoft.com/office/drawing/2014/main" id="{E2E56556-EE43-4A9C-A2F8-1462FEBBC5E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360" y="188280"/>
            <a:ext cx="7761240" cy="368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194400" indent="-194400" algn="l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 Main Page Description</a:t>
            </a:r>
            <a:endParaRPr sz="1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graphicFrame>
        <p:nvGraphicFramePr>
          <p:cNvPr id="68" name="Tabella 67"/>
          <p:cNvGraphicFramePr/>
          <p:nvPr/>
        </p:nvGraphicFramePr>
        <p:xfrm>
          <a:off x="7256160" y="620640"/>
          <a:ext cx="2632320" cy="4269360"/>
        </p:xfrm>
        <a:graphic>
          <a:graphicData uri="http://schemas.openxmlformats.org/drawingml/2006/table">
            <a:tbl>
              <a:tblPr/>
              <a:tblGrid>
                <a:gridCol w="42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36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180000" marR="36000" marT="45360" marB="45360" anchor="ctr">
                    <a:lnL w="14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Nuvio TV splash/logo while the app starts.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Continue to QR sign-in, email sign-in, or Guest when enabled.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Back returns to the previous page when available.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2000" marR="3600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8" name="TextBox 23">
            <a:extLst>
              <a:ext uri="{FF2B5EF4-FFF2-40B4-BE49-F238E27FC236}">
                <a16:creationId xmlns:a16="http://schemas.microsoft.com/office/drawing/2014/main" id="{8FEA213C-0C5D-4295-9889-18C4EA6E0303}"/>
              </a:ext>
            </a:extLst>
          </p:cNvPr>
          <p:cNvSpPr>
            <a:spLocks noGrp="1"/>
          </p:cNvSpPr>
          <p:nvPr/>
        </p:nvSpPr>
        <p:spPr>
          <a:xfrm>
            <a:off x="12600" y="5601960"/>
            <a:ext cx="9024840" cy="886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565522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그림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720" y="987120"/>
            <a:ext cx="7040520" cy="3961080"/>
          </a:xfrm>
          <a:prstGeom prst="rect">
            <a:avLst/>
          </a:prstGeom>
          <a:ln w="38160">
            <a:noFill/>
          </a:ln>
        </p:spPr>
      </p:pic>
      <p:sp>
        <p:nvSpPr>
          <p:cNvPr id="60" name="직사각형 14">
            <a:extLst>
              <a:ext uri="{FF2B5EF4-FFF2-40B4-BE49-F238E27FC236}">
                <a16:creationId xmlns:a16="http://schemas.microsoft.com/office/drawing/2014/main" id="{54FB987B-B8A0-453D-BEF5-0570CC7157E1}"/>
              </a:ext>
            </a:extLst>
          </p:cNvPr>
          <p:cNvSpPr>
            <a:spLocks noGrp="1"/>
          </p:cNvSpPr>
          <p:nvPr/>
        </p:nvSpPr>
        <p:spPr>
          <a:xfrm>
            <a:off x="0" y="5013000"/>
            <a:ext cx="9905760" cy="1285920"/>
          </a:xfrm>
          <a:prstGeom prst="rect">
            <a:avLst/>
          </a:prstGeom>
          <a:solidFill>
            <a:srgbClr val="DDDDDD"/>
          </a:solidFill>
          <a:ln w="9360">
            <a:solidFill>
              <a:srgbClr val="7F7F7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Information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-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Home shows configured catalog rows and a featured title.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- Focus a title and press OK to open details.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61" name="TextBox 5">
            <a:extLst>
              <a:ext uri="{FF2B5EF4-FFF2-40B4-BE49-F238E27FC236}">
                <a16:creationId xmlns:a16="http://schemas.microsoft.com/office/drawing/2014/main" id="{B7FE5AE8-44B0-4C3B-89BC-0B7412271655}"/>
              </a:ext>
            </a:extLst>
          </p:cNvPr>
          <p:cNvSpPr>
            <a:spLocks noGrp="1"/>
          </p:cNvSpPr>
          <p:nvPr/>
        </p:nvSpPr>
        <p:spPr>
          <a:xfrm>
            <a:off x="166680" y="642960"/>
            <a:ext cx="26812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Home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62" name="Text Box 43">
            <a:extLst>
              <a:ext uri="{FF2B5EF4-FFF2-40B4-BE49-F238E27FC236}">
                <a16:creationId xmlns:a16="http://schemas.microsoft.com/office/drawing/2014/main" id="{E0BC7398-920B-497E-8A77-91BB14968AB2}"/>
              </a:ext>
            </a:extLst>
          </p:cNvPr>
          <p:cNvSpPr>
            <a:spLocks noGrp="1"/>
          </p:cNvSpPr>
          <p:nvPr/>
        </p:nvSpPr>
        <p:spPr>
          <a:xfrm>
            <a:off x="1190520" y="1028520"/>
            <a:ext cx="288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FFFF66"/>
                </a:solidFill>
                <a:latin typeface="Arial"/>
                <a:ea typeface="Arial"/>
                <a:cs typeface="Arial"/>
              </a:rPr>
              <a:t>①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63" name="Text Box 3">
            <a:extLst>
              <a:ext uri="{FF2B5EF4-FFF2-40B4-BE49-F238E27FC236}">
                <a16:creationId xmlns:a16="http://schemas.microsoft.com/office/drawing/2014/main" id="{BF87C309-7DE4-403E-9BDD-AE6B7C982AEF}"/>
              </a:ext>
            </a:extLst>
          </p:cNvPr>
          <p:cNvSpPr>
            <a:spLocks noGrp="1"/>
          </p:cNvSpPr>
          <p:nvPr/>
        </p:nvSpPr>
        <p:spPr>
          <a:xfrm>
            <a:off x="6105240" y="1028520"/>
            <a:ext cx="2890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FFFF66"/>
                </a:solidFill>
                <a:latin typeface="Arial"/>
                <a:ea typeface="Arial"/>
                <a:cs typeface="Arial"/>
              </a:rPr>
              <a:t>②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64" name="PlaceHolder 1">
            <a:extLst>
              <a:ext uri="{FF2B5EF4-FFF2-40B4-BE49-F238E27FC236}">
                <a16:creationId xmlns:a16="http://schemas.microsoft.com/office/drawing/2014/main" id="{51D8A73C-12D7-4F50-BE2D-5DA7F2A4440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360" y="188280"/>
            <a:ext cx="7761240" cy="368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194400" indent="-194400" algn="l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 Main Page Description</a:t>
            </a:r>
            <a:endParaRPr sz="1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graphicFrame>
        <p:nvGraphicFramePr>
          <p:cNvPr id="75" name="Tabella 74"/>
          <p:cNvGraphicFramePr/>
          <p:nvPr/>
        </p:nvGraphicFramePr>
        <p:xfrm>
          <a:off x="7238880" y="642600"/>
          <a:ext cx="2609640" cy="5623080"/>
        </p:xfrm>
        <a:graphic>
          <a:graphicData uri="http://schemas.openxmlformats.org/drawingml/2006/table">
            <a:tbl>
              <a:tblPr/>
              <a:tblGrid>
                <a:gridCol w="407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179640" marR="35640" marT="45360" marB="45360" anchor="ctr">
                    <a:lnL w="14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Left rail: Home, Search, Library, Settings.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Featured title/card: focus and press OK for details.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3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Content rails: move horizontally and vertically with the remote.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4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Back returns to the prior page or closes the current layer.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6" name="TextBox 23">
            <a:extLst>
              <a:ext uri="{FF2B5EF4-FFF2-40B4-BE49-F238E27FC236}">
                <a16:creationId xmlns:a16="http://schemas.microsoft.com/office/drawing/2014/main" id="{DD5F3294-5115-47FD-BCA9-2E32FBEDA7F7}"/>
              </a:ext>
            </a:extLst>
          </p:cNvPr>
          <p:cNvSpPr>
            <a:spLocks noGrp="1"/>
          </p:cNvSpPr>
          <p:nvPr/>
        </p:nvSpPr>
        <p:spPr>
          <a:xfrm>
            <a:off x="0" y="5679720"/>
            <a:ext cx="9024840" cy="886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71258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그림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68160" y="1036440"/>
            <a:ext cx="6720120" cy="3780000"/>
          </a:xfrm>
          <a:prstGeom prst="rect">
            <a:avLst/>
          </a:prstGeom>
          <a:ln w="38160">
            <a:noFill/>
          </a:ln>
        </p:spPr>
      </p:pic>
      <p:sp>
        <p:nvSpPr>
          <p:cNvPr id="68" name="Text Box 163">
            <a:extLst>
              <a:ext uri="{FF2B5EF4-FFF2-40B4-BE49-F238E27FC236}">
                <a16:creationId xmlns:a16="http://schemas.microsoft.com/office/drawing/2014/main" id="{92BFC6C9-DE5A-4615-9224-C563217D9171}"/>
              </a:ext>
            </a:extLst>
          </p:cNvPr>
          <p:cNvSpPr>
            <a:spLocks noGrp="1"/>
          </p:cNvSpPr>
          <p:nvPr/>
        </p:nvSpPr>
        <p:spPr>
          <a:xfrm>
            <a:off x="0" y="188640"/>
            <a:ext cx="7759440" cy="368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640" tIns="46440" rIns="89640" bIns="46440" anchor="t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2960" algn="l"/>
                <a:tab pos="1827360" algn="l"/>
                <a:tab pos="2741760" algn="l"/>
                <a:tab pos="3656160" algn="l"/>
                <a:tab pos="4570560" algn="l"/>
                <a:tab pos="5484960" algn="l"/>
                <a:tab pos="6399360" algn="l"/>
                <a:tab pos="7313760" algn="l"/>
                <a:tab pos="8228160" algn="l"/>
                <a:tab pos="9142560" algn="l"/>
                <a:tab pos="1005696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 Sub Page Description</a:t>
            </a:r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69" name="직사각형 4">
            <a:extLst>
              <a:ext uri="{FF2B5EF4-FFF2-40B4-BE49-F238E27FC236}">
                <a16:creationId xmlns:a16="http://schemas.microsoft.com/office/drawing/2014/main" id="{C2852F13-0D8D-4A29-9E4F-32315EB545E5}"/>
              </a:ext>
            </a:extLst>
          </p:cNvPr>
          <p:cNvSpPr>
            <a:spLocks noGrp="1"/>
          </p:cNvSpPr>
          <p:nvPr/>
        </p:nvSpPr>
        <p:spPr>
          <a:xfrm>
            <a:off x="0" y="4906800"/>
            <a:ext cx="9905760" cy="1401840"/>
          </a:xfrm>
          <a:prstGeom prst="rect">
            <a:avLst/>
          </a:prstGeom>
          <a:solidFill>
            <a:srgbClr val="DDDDDD"/>
          </a:solidFill>
          <a:ln w="9360">
            <a:solidFill>
              <a:srgbClr val="7F7F7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Information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-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Follow launch → authentication/profile → Home → Search/Library → title details → source/player.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Use a lawful configured test source and verify empty/error handling if it is unavailable.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70" name="TextBox 23">
            <a:extLst>
              <a:ext uri="{FF2B5EF4-FFF2-40B4-BE49-F238E27FC236}">
                <a16:creationId xmlns:a16="http://schemas.microsoft.com/office/drawing/2014/main" id="{4D69D13B-2E49-4417-A515-8348339AD57C}"/>
              </a:ext>
            </a:extLst>
          </p:cNvPr>
          <p:cNvSpPr>
            <a:spLocks noGrp="1"/>
          </p:cNvSpPr>
          <p:nvPr/>
        </p:nvSpPr>
        <p:spPr>
          <a:xfrm>
            <a:off x="0" y="5489280"/>
            <a:ext cx="8929440" cy="551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71" name="TextBox 5">
            <a:extLst>
              <a:ext uri="{FF2B5EF4-FFF2-40B4-BE49-F238E27FC236}">
                <a16:creationId xmlns:a16="http://schemas.microsoft.com/office/drawing/2014/main" id="{EDA3D841-1576-476D-9E9E-187BFF2EBA35}"/>
              </a:ext>
            </a:extLst>
          </p:cNvPr>
          <p:cNvSpPr>
            <a:spLocks noGrp="1"/>
          </p:cNvSpPr>
          <p:nvPr/>
        </p:nvSpPr>
        <p:spPr>
          <a:xfrm>
            <a:off x="166680" y="642960"/>
            <a:ext cx="26812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QA Flow Chart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35628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그림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720" y="992160"/>
            <a:ext cx="7040520" cy="3958920"/>
          </a:xfrm>
          <a:prstGeom prst="rect">
            <a:avLst/>
          </a:prstGeom>
          <a:ln w="38160">
            <a:noFill/>
          </a:ln>
        </p:spPr>
      </p:pic>
      <p:sp>
        <p:nvSpPr>
          <p:cNvPr id="73" name="직사각형 14">
            <a:extLst>
              <a:ext uri="{FF2B5EF4-FFF2-40B4-BE49-F238E27FC236}">
                <a16:creationId xmlns:a16="http://schemas.microsoft.com/office/drawing/2014/main" id="{1C94AB63-9414-482F-A461-B91A64EBA87A}"/>
              </a:ext>
            </a:extLst>
          </p:cNvPr>
          <p:cNvSpPr>
            <a:spLocks noGrp="1"/>
          </p:cNvSpPr>
          <p:nvPr/>
        </p:nvSpPr>
        <p:spPr>
          <a:xfrm>
            <a:off x="0" y="5135400"/>
            <a:ext cx="9905760" cy="1200240"/>
          </a:xfrm>
          <a:prstGeom prst="rect">
            <a:avLst/>
          </a:prstGeom>
          <a:solidFill>
            <a:srgbClr val="DDDDDD"/>
          </a:solidFill>
          <a:ln w="9360">
            <a:solidFill>
              <a:srgbClr val="7F7F7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Information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Settings manages profiles, appearance, language, integrations, playback, and account/provider configuration.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Select a section with focus + OK; use Back to return to the previous section.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Verify changes persist after relaunch.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74" name="TextBox 5">
            <a:extLst>
              <a:ext uri="{FF2B5EF4-FFF2-40B4-BE49-F238E27FC236}">
                <a16:creationId xmlns:a16="http://schemas.microsoft.com/office/drawing/2014/main" id="{4EEF828C-0E34-47B6-A862-4A269A73E2C8}"/>
              </a:ext>
            </a:extLst>
          </p:cNvPr>
          <p:cNvSpPr>
            <a:spLocks noGrp="1"/>
          </p:cNvSpPr>
          <p:nvPr/>
        </p:nvSpPr>
        <p:spPr>
          <a:xfrm>
            <a:off x="128520" y="621000"/>
            <a:ext cx="7200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Settings / sidebar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75" name="Text Box 43">
            <a:extLst>
              <a:ext uri="{FF2B5EF4-FFF2-40B4-BE49-F238E27FC236}">
                <a16:creationId xmlns:a16="http://schemas.microsoft.com/office/drawing/2014/main" id="{EFD38812-DCA5-4069-99DC-F5C5300502A8}"/>
              </a:ext>
            </a:extLst>
          </p:cNvPr>
          <p:cNvSpPr>
            <a:spLocks noGrp="1"/>
          </p:cNvSpPr>
          <p:nvPr/>
        </p:nvSpPr>
        <p:spPr>
          <a:xfrm>
            <a:off x="6105240" y="1028520"/>
            <a:ext cx="2890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FFFF66"/>
                </a:solidFill>
                <a:latin typeface="Arial"/>
                <a:ea typeface="Arial"/>
                <a:cs typeface="Arial"/>
              </a:rPr>
              <a:t>①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76" name="Text Box 3">
            <a:extLst>
              <a:ext uri="{FF2B5EF4-FFF2-40B4-BE49-F238E27FC236}">
                <a16:creationId xmlns:a16="http://schemas.microsoft.com/office/drawing/2014/main" id="{BE7A791A-D1DD-4F69-91F3-C8FDDC81CBCD}"/>
              </a:ext>
            </a:extLst>
          </p:cNvPr>
          <p:cNvSpPr>
            <a:spLocks noGrp="1"/>
          </p:cNvSpPr>
          <p:nvPr/>
        </p:nvSpPr>
        <p:spPr>
          <a:xfrm>
            <a:off x="1900080" y="1269720"/>
            <a:ext cx="2890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FFFF66"/>
                </a:solidFill>
                <a:latin typeface="Arial"/>
                <a:ea typeface="Arial"/>
                <a:cs typeface="Arial"/>
              </a:rPr>
              <a:t>②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77" name="PlaceHolder 1">
            <a:extLst>
              <a:ext uri="{FF2B5EF4-FFF2-40B4-BE49-F238E27FC236}">
                <a16:creationId xmlns:a16="http://schemas.microsoft.com/office/drawing/2014/main" id="{40BDC550-4CE7-447E-88CB-1C65FED6A8C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360" y="188280"/>
            <a:ext cx="7761240" cy="368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194400" indent="-194400" algn="l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 Sub Page Description</a:t>
            </a:r>
            <a:endParaRPr sz="1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graphicFrame>
        <p:nvGraphicFramePr>
          <p:cNvPr id="88" name="Tabella 87"/>
          <p:cNvGraphicFramePr/>
          <p:nvPr/>
        </p:nvGraphicFramePr>
        <p:xfrm>
          <a:off x="7238880" y="642600"/>
          <a:ext cx="2609640" cy="6183720"/>
        </p:xfrm>
        <a:graphic>
          <a:graphicData uri="http://schemas.openxmlformats.org/drawingml/2006/table">
            <a:tbl>
              <a:tblPr/>
              <a:tblGrid>
                <a:gridCol w="42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179640" marR="35640" marT="46800" marB="46800" anchor="ctr">
                    <a:lnL w="14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 a sidebar section: Profiles, Appearance, Layout, Integrations, or Playback.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Open an item and change its setting.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3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Use Account/Connected Services for sign-in and provider configuration.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4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Press Back to return; relaunch to verify persistence.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9" name="직사각형 3">
            <a:extLst>
              <a:ext uri="{FF2B5EF4-FFF2-40B4-BE49-F238E27FC236}">
                <a16:creationId xmlns:a16="http://schemas.microsoft.com/office/drawing/2014/main" id="{4D354140-A5D2-4996-ACE4-40518C88BEA5}"/>
              </a:ext>
            </a:extLst>
          </p:cNvPr>
          <p:cNvSpPr>
            <a:spLocks noGrp="1"/>
          </p:cNvSpPr>
          <p:nvPr/>
        </p:nvSpPr>
        <p:spPr>
          <a:xfrm>
            <a:off x="128520" y="1333440"/>
            <a:ext cx="1771560" cy="3608280"/>
          </a:xfrm>
          <a:prstGeom prst="rect">
            <a:avLst/>
          </a:prstGeom>
          <a:noFill/>
          <a:ln w="18720">
            <a:solidFill>
              <a:srgbClr val="FFFF66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1141048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그림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880" y="987120"/>
            <a:ext cx="7039080" cy="3961080"/>
          </a:xfrm>
          <a:prstGeom prst="rect">
            <a:avLst/>
          </a:prstGeom>
          <a:ln w="38160">
            <a:noFill/>
          </a:ln>
        </p:spPr>
      </p:pic>
      <p:sp>
        <p:nvSpPr>
          <p:cNvPr id="81" name="직사각형 14">
            <a:extLst>
              <a:ext uri="{FF2B5EF4-FFF2-40B4-BE49-F238E27FC236}">
                <a16:creationId xmlns:a16="http://schemas.microsoft.com/office/drawing/2014/main" id="{5A6AE86C-4F0F-4103-BC34-FA7AEE62E3C1}"/>
              </a:ext>
            </a:extLst>
          </p:cNvPr>
          <p:cNvSpPr>
            <a:spLocks noGrp="1"/>
          </p:cNvSpPr>
          <p:nvPr/>
        </p:nvSpPr>
        <p:spPr>
          <a:xfrm>
            <a:off x="0" y="5149800"/>
            <a:ext cx="9905760" cy="1158840"/>
          </a:xfrm>
          <a:prstGeom prst="rect">
            <a:avLst/>
          </a:prstGeom>
          <a:solidFill>
            <a:srgbClr val="DDDDDD"/>
          </a:solidFill>
          <a:ln w="9360">
            <a:solidFill>
              <a:srgbClr val="7F7F7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Information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Search results are metadata from configured catalogs.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The title detail page can show synopsis, artwork, availability, library/save controls, and source actions supplied by the provider.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Opening a source launches the TV player; audio, subtitles, DRM, and stream behavior depend on the source and TV model.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82" name="TextBox 5">
            <a:extLst>
              <a:ext uri="{FF2B5EF4-FFF2-40B4-BE49-F238E27FC236}">
                <a16:creationId xmlns:a16="http://schemas.microsoft.com/office/drawing/2014/main" id="{00D389B9-7590-477F-927C-5663F153A4A2}"/>
              </a:ext>
            </a:extLst>
          </p:cNvPr>
          <p:cNvSpPr>
            <a:spLocks noGrp="1"/>
          </p:cNvSpPr>
          <p:nvPr/>
        </p:nvSpPr>
        <p:spPr>
          <a:xfrm>
            <a:off x="128520" y="621000"/>
            <a:ext cx="7200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 Search results / title details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83" name="Text Box 43">
            <a:extLst>
              <a:ext uri="{FF2B5EF4-FFF2-40B4-BE49-F238E27FC236}">
                <a16:creationId xmlns:a16="http://schemas.microsoft.com/office/drawing/2014/main" id="{B70DC12C-9782-4F4D-824C-0608FC1F9FF6}"/>
              </a:ext>
            </a:extLst>
          </p:cNvPr>
          <p:cNvSpPr>
            <a:spLocks noGrp="1"/>
          </p:cNvSpPr>
          <p:nvPr/>
        </p:nvSpPr>
        <p:spPr>
          <a:xfrm>
            <a:off x="6176880" y="1029960"/>
            <a:ext cx="288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FFFF66"/>
                </a:solidFill>
                <a:latin typeface="Arial"/>
                <a:ea typeface="Arial"/>
                <a:cs typeface="Arial"/>
              </a:rPr>
              <a:t>①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84" name="PlaceHolder 1">
            <a:extLst>
              <a:ext uri="{FF2B5EF4-FFF2-40B4-BE49-F238E27FC236}">
                <a16:creationId xmlns:a16="http://schemas.microsoft.com/office/drawing/2014/main" id="{6D0BE0F8-45CD-43CC-B76B-C76AD7ED5BE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360" y="188280"/>
            <a:ext cx="7761240" cy="368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194400" indent="-194400" algn="l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 Sub Page Description</a:t>
            </a:r>
            <a:endParaRPr sz="1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graphicFrame>
        <p:nvGraphicFramePr>
          <p:cNvPr id="96" name="Tabella 95"/>
          <p:cNvGraphicFramePr/>
          <p:nvPr/>
        </p:nvGraphicFramePr>
        <p:xfrm>
          <a:off x="7238880" y="642600"/>
          <a:ext cx="2609640" cy="6067440"/>
        </p:xfrm>
        <a:graphic>
          <a:graphicData uri="http://schemas.openxmlformats.org/drawingml/2006/table">
            <a:tbl>
              <a:tblPr/>
              <a:tblGrid>
                <a:gridCol w="407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179640" marR="35640" marT="46800" marB="46800" anchor="ctr">
                    <a:lnL w="14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Back to Search.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Focus a result and press OK to open details.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3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Save to Library or choose an available configured source.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4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If a source is unavailable, select another configured source.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5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Back returns to results.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6800" marB="4680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6" name="Text Box 43">
            <a:extLst>
              <a:ext uri="{FF2B5EF4-FFF2-40B4-BE49-F238E27FC236}">
                <a16:creationId xmlns:a16="http://schemas.microsoft.com/office/drawing/2014/main" id="{E8D5F672-59FB-4A0A-9C55-088D53591F4E}"/>
              </a:ext>
            </a:extLst>
          </p:cNvPr>
          <p:cNvSpPr>
            <a:spLocks noGrp="1"/>
          </p:cNvSpPr>
          <p:nvPr/>
        </p:nvSpPr>
        <p:spPr>
          <a:xfrm>
            <a:off x="166680" y="2955600"/>
            <a:ext cx="288720" cy="304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87" name="Text Box 3">
            <a:extLst>
              <a:ext uri="{FF2B5EF4-FFF2-40B4-BE49-F238E27FC236}">
                <a16:creationId xmlns:a16="http://schemas.microsoft.com/office/drawing/2014/main" id="{39B60B88-195B-4B58-8FA3-9FBC92BC2F17}"/>
              </a:ext>
            </a:extLst>
          </p:cNvPr>
          <p:cNvSpPr>
            <a:spLocks noGrp="1"/>
          </p:cNvSpPr>
          <p:nvPr/>
        </p:nvSpPr>
        <p:spPr>
          <a:xfrm>
            <a:off x="2936520" y="2260440"/>
            <a:ext cx="2890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FFFF66"/>
                </a:solidFill>
                <a:latin typeface="Arial"/>
                <a:ea typeface="Arial"/>
                <a:cs typeface="Arial"/>
              </a:rPr>
              <a:t>②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88" name="직사각형 3">
            <a:extLst>
              <a:ext uri="{FF2B5EF4-FFF2-40B4-BE49-F238E27FC236}">
                <a16:creationId xmlns:a16="http://schemas.microsoft.com/office/drawing/2014/main" id="{CE7B8D92-1739-41CF-9B66-C080E33219B4}"/>
              </a:ext>
            </a:extLst>
          </p:cNvPr>
          <p:cNvSpPr>
            <a:spLocks noGrp="1"/>
          </p:cNvSpPr>
          <p:nvPr/>
        </p:nvSpPr>
        <p:spPr>
          <a:xfrm>
            <a:off x="455400" y="2276280"/>
            <a:ext cx="2481120" cy="2089080"/>
          </a:xfrm>
          <a:prstGeom prst="rect">
            <a:avLst/>
          </a:prstGeom>
          <a:noFill/>
          <a:ln w="18720">
            <a:solidFill>
              <a:srgbClr val="FFFF66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1213126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그림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20" y="879120"/>
            <a:ext cx="7040520" cy="3959280"/>
          </a:xfrm>
          <a:prstGeom prst="rect">
            <a:avLst/>
          </a:prstGeom>
          <a:ln w="38160">
            <a:noFill/>
          </a:ln>
        </p:spPr>
      </p:pic>
      <p:sp>
        <p:nvSpPr>
          <p:cNvPr id="90" name="직사각형 14">
            <a:extLst>
              <a:ext uri="{FF2B5EF4-FFF2-40B4-BE49-F238E27FC236}">
                <a16:creationId xmlns:a16="http://schemas.microsoft.com/office/drawing/2014/main" id="{AA354F13-BC39-4415-A531-0C0082B231E9}"/>
              </a:ext>
            </a:extLst>
          </p:cNvPr>
          <p:cNvSpPr>
            <a:spLocks noGrp="1"/>
          </p:cNvSpPr>
          <p:nvPr/>
        </p:nvSpPr>
        <p:spPr>
          <a:xfrm>
            <a:off x="0" y="4937040"/>
            <a:ext cx="9905760" cy="1515960"/>
          </a:xfrm>
          <a:prstGeom prst="rect">
            <a:avLst/>
          </a:prstGeom>
          <a:solidFill>
            <a:srgbClr val="DDDDDD"/>
          </a:solidFill>
          <a:ln w="9360">
            <a:solidFill>
              <a:srgbClr val="7F7F7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Information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-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 i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Nuvio TV has no in-app purchase or paid-content flow in the webOS app.</a:t>
            </a:r>
            <a:endParaRPr sz="10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-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There is no webOS Pay, credit-card, SMS, PayPal, or voucher flow.</a:t>
            </a:r>
            <a:endParaRPr sz="10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Optional external support/membership is outside the TV app and is not required for playback.</a:t>
            </a:r>
            <a:endParaRPr sz="10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 not enter payment credentials in LG Seller Lounge.</a:t>
            </a:r>
            <a:endParaRPr sz="10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91" name="PlaceHolder 1">
            <a:extLst>
              <a:ext uri="{FF2B5EF4-FFF2-40B4-BE49-F238E27FC236}">
                <a16:creationId xmlns:a16="http://schemas.microsoft.com/office/drawing/2014/main" id="{3524CE19-E8EC-4197-9A0B-5873D6D9054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360" y="188280"/>
            <a:ext cx="7761240" cy="368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194400" indent="-194400" algn="l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 Paid Content — Not Applicable</a:t>
            </a:r>
            <a:endParaRPr sz="1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graphicFrame>
        <p:nvGraphicFramePr>
          <p:cNvPr id="99" name="Tabella 98"/>
          <p:cNvGraphicFramePr/>
          <p:nvPr/>
        </p:nvGraphicFramePr>
        <p:xfrm>
          <a:off x="7238880" y="642600"/>
          <a:ext cx="2609640" cy="6256080"/>
        </p:xfrm>
        <a:graphic>
          <a:graphicData uri="http://schemas.openxmlformats.org/drawingml/2006/table">
            <a:tbl>
              <a:tblPr/>
              <a:tblGrid>
                <a:gridCol w="42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179640" marR="35640" marT="45360" marB="45360" anchor="ctr">
                    <a:lnL w="14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payment UI in Nuvio TV.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No webOS Pay, credit-card, SMS, PayPal, or voucher method.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External support/membership is outside the TV app and not required for playback.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 test cards or voucher codes are required for QA.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6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8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6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3" name="Text Box 43">
            <a:extLst>
              <a:ext uri="{FF2B5EF4-FFF2-40B4-BE49-F238E27FC236}">
                <a16:creationId xmlns:a16="http://schemas.microsoft.com/office/drawing/2014/main" id="{1EB510B9-01BD-4B46-B0D2-FEBA17295E63}"/>
              </a:ext>
            </a:extLst>
          </p:cNvPr>
          <p:cNvSpPr>
            <a:spLocks noGrp="1"/>
          </p:cNvSpPr>
          <p:nvPr/>
        </p:nvSpPr>
        <p:spPr>
          <a:xfrm>
            <a:off x="6105240" y="907920"/>
            <a:ext cx="28908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A50021"/>
                </a:solidFill>
                <a:latin typeface="Arial"/>
                <a:ea typeface="Arial"/>
                <a:cs typeface="Arial"/>
              </a:rPr>
              <a:t>①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154900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그림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20" y="909360"/>
            <a:ext cx="7040520" cy="3959280"/>
          </a:xfrm>
          <a:prstGeom prst="rect">
            <a:avLst/>
          </a:prstGeom>
          <a:ln w="38160">
            <a:noFill/>
          </a:ln>
        </p:spPr>
      </p:pic>
      <p:sp>
        <p:nvSpPr>
          <p:cNvPr id="95" name="직사각형 14">
            <a:extLst>
              <a:ext uri="{FF2B5EF4-FFF2-40B4-BE49-F238E27FC236}">
                <a16:creationId xmlns:a16="http://schemas.microsoft.com/office/drawing/2014/main" id="{65686174-60A0-4F27-A3D9-21255B6BB600}"/>
              </a:ext>
            </a:extLst>
          </p:cNvPr>
          <p:cNvSpPr>
            <a:spLocks noGrp="1"/>
          </p:cNvSpPr>
          <p:nvPr/>
        </p:nvSpPr>
        <p:spPr>
          <a:xfrm>
            <a:off x="0" y="4941720"/>
            <a:ext cx="9905760" cy="1366920"/>
          </a:xfrm>
          <a:prstGeom prst="rect">
            <a:avLst/>
          </a:prstGeom>
          <a:solidFill>
            <a:srgbClr val="DDDDDD"/>
          </a:solidFill>
          <a:ln w="9360">
            <a:solidFill>
              <a:srgbClr val="7F7F7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Information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171360" indent="-171360">
              <a:lnSpc>
                <a:spcPct val="150000"/>
              </a:lnSpc>
              <a:buClr>
                <a:srgbClr val="000000"/>
              </a:buClr>
              <a:buFont typeface="Arial"/>
              <a:buChar char="-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Nuvio TV does not display banner advertising and does not use an in-app advertising SDK.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171360" indent="-171360">
              <a:lnSpc>
                <a:spcPct val="150000"/>
              </a:lnSpc>
              <a:buClr>
                <a:srgbClr val="000000"/>
              </a:buClr>
              <a:buFont typeface="Arial"/>
              <a:buChar char="-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No ad placement, tracking purpose, or banner test data applies.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96" name="TextBox 5">
            <a:extLst>
              <a:ext uri="{FF2B5EF4-FFF2-40B4-BE49-F238E27FC236}">
                <a16:creationId xmlns:a16="http://schemas.microsoft.com/office/drawing/2014/main" id="{3234B796-2D8F-4CE2-9ED0-CC221471108F}"/>
              </a:ext>
            </a:extLst>
          </p:cNvPr>
          <p:cNvSpPr>
            <a:spLocks noGrp="1"/>
          </p:cNvSpPr>
          <p:nvPr/>
        </p:nvSpPr>
        <p:spPr>
          <a:xfrm>
            <a:off x="144360" y="619560"/>
            <a:ext cx="7200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1. Banner Type — Not Applicable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graphicFrame>
        <p:nvGraphicFramePr>
          <p:cNvPr id="106" name="Tabella 105"/>
          <p:cNvGraphicFramePr/>
          <p:nvPr/>
        </p:nvGraphicFramePr>
        <p:xfrm>
          <a:off x="7238880" y="642600"/>
          <a:ext cx="2538360" cy="4652280"/>
        </p:xfrm>
        <a:graphic>
          <a:graphicData uri="http://schemas.openxmlformats.org/drawingml/2006/table">
            <a:tbl>
              <a:tblPr/>
              <a:tblGrid>
                <a:gridCol w="41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16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179640" marR="35640" marT="45360" marB="45360" anchor="ctr">
                    <a:lnL w="14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6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0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Clr>
                          <a:srgbClr val="FF0000"/>
                        </a:buClr>
                        <a:buFont typeface="Wingdings"/>
                        <a:buChar char="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</a:rPr>
                        <a:t>Page: None. Location: None.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00">
                <a:tc vMerge="1">
                  <a:txBody>
                    <a:bodyPr/>
                    <a:lstStyle/>
                    <a:p>
                      <a:r>
                        <a:t>2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Clr>
                          <a:srgbClr val="FF0000"/>
                        </a:buClr>
                        <a:buFont typeface="Wingdings"/>
                        <a:buChar char="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000" b="0" u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</a:rPr>
                        <a:t>Ad SDK/platform: None.</a:t>
                      </a:r>
                      <a:endParaRPr sz="10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3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 banner ads are rendered by the app.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-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/>
                        <a:buChar char="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Not applicable.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-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/>
                        <a:buChar char="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Not applicable.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-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/>
                        <a:buChar char="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Not applicable.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-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Not applicable.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-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Not applicable.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marT="45360" marB="4536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8" name="PlaceHolder 1">
            <a:extLst>
              <a:ext uri="{FF2B5EF4-FFF2-40B4-BE49-F238E27FC236}">
                <a16:creationId xmlns:a16="http://schemas.microsoft.com/office/drawing/2014/main" id="{16B274ED-64EF-4590-ABC3-FB8E255720E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360" y="175680"/>
            <a:ext cx="7761240" cy="369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 algn="l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8. In-App Ad — Not Applicable</a:t>
            </a:r>
            <a:endParaRPr sz="1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99" name="Text Box 43">
            <a:extLst>
              <a:ext uri="{FF2B5EF4-FFF2-40B4-BE49-F238E27FC236}">
                <a16:creationId xmlns:a16="http://schemas.microsoft.com/office/drawing/2014/main" id="{EB380F04-74DE-48F8-9A59-3EFEFF1BF676}"/>
              </a:ext>
            </a:extLst>
          </p:cNvPr>
          <p:cNvSpPr>
            <a:spLocks noGrp="1"/>
          </p:cNvSpPr>
          <p:nvPr/>
        </p:nvSpPr>
        <p:spPr>
          <a:xfrm>
            <a:off x="4448160" y="963360"/>
            <a:ext cx="288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FFFF66"/>
                </a:solidFill>
                <a:latin typeface="Arial"/>
                <a:ea typeface="Arial"/>
                <a:cs typeface="Arial"/>
              </a:rPr>
              <a:t>①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100" name="Text Box 3">
            <a:extLst>
              <a:ext uri="{FF2B5EF4-FFF2-40B4-BE49-F238E27FC236}">
                <a16:creationId xmlns:a16="http://schemas.microsoft.com/office/drawing/2014/main" id="{318221F4-5725-4351-B34A-73409FA953BE}"/>
              </a:ext>
            </a:extLst>
          </p:cNvPr>
          <p:cNvSpPr>
            <a:spLocks noGrp="1"/>
          </p:cNvSpPr>
          <p:nvPr/>
        </p:nvSpPr>
        <p:spPr>
          <a:xfrm>
            <a:off x="6742080" y="1136520"/>
            <a:ext cx="288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spcBef>
                <a:spcPts val="876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FFFF66"/>
                </a:solidFill>
                <a:latin typeface="Arial"/>
                <a:ea typeface="Arial"/>
                <a:cs typeface="Arial"/>
              </a:rPr>
              <a:t>②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866724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그림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800" y="877680"/>
            <a:ext cx="7040520" cy="3959280"/>
          </a:xfrm>
          <a:prstGeom prst="rect">
            <a:avLst/>
          </a:prstGeom>
          <a:ln w="38160">
            <a:noFill/>
          </a:ln>
        </p:spPr>
      </p:pic>
      <p:sp>
        <p:nvSpPr>
          <p:cNvPr id="102" name="직사각형 14">
            <a:extLst>
              <a:ext uri="{FF2B5EF4-FFF2-40B4-BE49-F238E27FC236}">
                <a16:creationId xmlns:a16="http://schemas.microsoft.com/office/drawing/2014/main" id="{9F178A33-8665-413B-9630-C8A113BB5575}"/>
              </a:ext>
            </a:extLst>
          </p:cNvPr>
          <p:cNvSpPr>
            <a:spLocks noGrp="1"/>
          </p:cNvSpPr>
          <p:nvPr/>
        </p:nvSpPr>
        <p:spPr>
          <a:xfrm>
            <a:off x="0" y="4868640"/>
            <a:ext cx="9905760" cy="1440000"/>
          </a:xfrm>
          <a:prstGeom prst="rect">
            <a:avLst/>
          </a:prstGeom>
          <a:solidFill>
            <a:srgbClr val="DDDDDD"/>
          </a:solidFill>
          <a:ln w="9360">
            <a:solidFill>
              <a:srgbClr val="7F7F7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Information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Nuvio TV does not insert or play advertising videos.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The TV player opens a configured source; any source-side behavior is outside the Nuvio TV app and must be tested separately.</a:t>
            </a:r>
            <a:endParaRPr sz="12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graphicFrame>
        <p:nvGraphicFramePr>
          <p:cNvPr id="111" name="Tabella 110"/>
          <p:cNvGraphicFramePr/>
          <p:nvPr/>
        </p:nvGraphicFramePr>
        <p:xfrm>
          <a:off x="7238880" y="620640"/>
          <a:ext cx="2609640" cy="5391360"/>
        </p:xfrm>
        <a:graphic>
          <a:graphicData uri="http://schemas.openxmlformats.org/drawingml/2006/table">
            <a:tbl>
              <a:tblPr/>
              <a:tblGrid>
                <a:gridCol w="407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sz="1400" b="1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  <a:endParaRPr sz="14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179640" marR="35640" anchor="ctr">
                    <a:lnL w="144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144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08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sz="12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1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 pre-roll, mid-roll, or post-roll video ads.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2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 AVOD or video advertising SDK.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3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 ad-area control is present in the app UI.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-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/>
                        <a:buChar char="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Not applicable.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-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/>
                        <a:buChar char="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Not applicable.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-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/>
                        <a:buChar char=""/>
                        <a:tabLst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Not applicable.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-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Not applicable.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-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t>Not applicable.</a:t>
                      </a:r>
                      <a:endParaRPr sz="1800" b="0" u="none">
                        <a:solidFill>
                          <a:srgbClr val="000000"/>
                        </a:solidFill>
                        <a:latin typeface="Wingdings 2"/>
                        <a:ea typeface="Wingdings 2"/>
                        <a:cs typeface="Wingdings 2"/>
                      </a:endParaRPr>
                    </a:p>
                  </a:txBody>
                  <a:tcPr marL="71640" marR="35640" anchor="ctr">
                    <a:lnL w="5760">
                      <a:solidFill>
                        <a:srgbClr val="404040"/>
                      </a:solidFill>
                      <a:prstDash val="solid"/>
                    </a:lnL>
                    <a:lnR w="5760">
                      <a:solidFill>
                        <a:srgbClr val="404040"/>
                      </a:solidFill>
                      <a:prstDash val="solid"/>
                    </a:lnR>
                    <a:lnT w="5760">
                      <a:solidFill>
                        <a:srgbClr val="404040"/>
                      </a:solidFill>
                      <a:prstDash val="solid"/>
                    </a:lnT>
                    <a:lnB w="5760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4" name="PlaceHolder 1">
            <a:extLst>
              <a:ext uri="{FF2B5EF4-FFF2-40B4-BE49-F238E27FC236}">
                <a16:creationId xmlns:a16="http://schemas.microsoft.com/office/drawing/2014/main" id="{27C6DE9B-83EC-441E-A787-7338DD8808C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360" y="188640"/>
            <a:ext cx="7761240" cy="370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 algn="l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8. In-App Ad — Not Applicable</a:t>
            </a:r>
            <a:endParaRPr sz="1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105" name="TextBox 5">
            <a:extLst>
              <a:ext uri="{FF2B5EF4-FFF2-40B4-BE49-F238E27FC236}">
                <a16:creationId xmlns:a16="http://schemas.microsoft.com/office/drawing/2014/main" id="{47E0BBAE-B01D-4881-A934-1B4E2C9BA448}"/>
              </a:ext>
            </a:extLst>
          </p:cNvPr>
          <p:cNvSpPr>
            <a:spLocks noGrp="1"/>
          </p:cNvSpPr>
          <p:nvPr/>
        </p:nvSpPr>
        <p:spPr>
          <a:xfrm>
            <a:off x="128520" y="619560"/>
            <a:ext cx="7200720" cy="307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 Video Type — Not Applicable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106" name="TextBox 3">
            <a:extLst>
              <a:ext uri="{FF2B5EF4-FFF2-40B4-BE49-F238E27FC236}">
                <a16:creationId xmlns:a16="http://schemas.microsoft.com/office/drawing/2014/main" id="{040AB690-0D0C-4432-B6AA-864F38BAB25C}"/>
              </a:ext>
            </a:extLst>
          </p:cNvPr>
          <p:cNvSpPr>
            <a:spLocks noGrp="1"/>
          </p:cNvSpPr>
          <p:nvPr/>
        </p:nvSpPr>
        <p:spPr>
          <a:xfrm>
            <a:off x="2720880" y="2442960"/>
            <a:ext cx="1522800" cy="520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No ad area</a:t>
            </a:r>
            <a:endParaRPr sz="28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1203225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5">
            <a:extLst>
              <a:ext uri="{FF2B5EF4-FFF2-40B4-BE49-F238E27FC236}">
                <a16:creationId xmlns:a16="http://schemas.microsoft.com/office/drawing/2014/main" id="{24B4EDE1-93AC-419F-92FA-19A99337F593}"/>
              </a:ext>
            </a:extLst>
          </p:cNvPr>
          <p:cNvSpPr>
            <a:spLocks noGrp="1"/>
          </p:cNvSpPr>
          <p:nvPr/>
        </p:nvSpPr>
        <p:spPr>
          <a:xfrm>
            <a:off x="380880" y="1000080"/>
            <a:ext cx="9109080" cy="18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Before submitting to LG QA: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Replace the bracketed QA account, password, and source/add-on values on slide 6.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55320" indent="-35532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a lawful test source reachable from LG QA; verify selection, playback, audio, subtitles, resume, and Back/Home behavior.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55320" indent="-35532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Confirm countries/languages, privacy URL, seller contact, support URL, and content rating in Seller Lounge.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55320" indent="-35532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webOS 5.0+ (2020 and later) at 1920x1080.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55320" indent="-35532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Nuvio TV does not host or provide video; catalogs and playable links come from configured services.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  <a:p>
            <a:pPr marL="355320" indent="-35532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Slides 3 and 9 are QA visuals; slides 6-8 and 10-14 use real Nuvio TV UI/assets.</a:t>
            </a:r>
            <a:endParaRPr sz="1400" b="0" u="none">
              <a:solidFill>
                <a:srgbClr val="000000"/>
              </a:solidFill>
              <a:latin typeface="Wingdings 2"/>
              <a:ea typeface="Wingdings 2"/>
              <a:cs typeface="Wingdings 2"/>
            </a:endParaRPr>
          </a:p>
        </p:txBody>
      </p:sp>
      <p:sp>
        <p:nvSpPr>
          <p:cNvPr id="108" name="PlaceHolder 1">
            <a:extLst>
              <a:ext uri="{FF2B5EF4-FFF2-40B4-BE49-F238E27FC236}">
                <a16:creationId xmlns:a16="http://schemas.microsoft.com/office/drawing/2014/main" id="{4AC30B68-895A-4BFF-B38A-6B6016E6372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-360" y="188280"/>
            <a:ext cx="7761240" cy="368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194400" indent="-194400" algn="l">
              <a:lnSpc>
                <a:spcPct val="100000"/>
              </a:lnSpc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1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— QA Notes</a:t>
            </a:r>
            <a:endParaRPr sz="1800" b="0" u="none">
              <a:solidFill>
                <a:srgbClr val="000000"/>
              </a:solidFill>
              <a:latin typeface="굴림"/>
              <a:ea typeface="굴림"/>
              <a:cs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513876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Personalizzato</PresentationFormat>
  <Slides>15</Slides>
  <Notes>15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6" baseType="lpstr">
      <vt:lpstr>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5</cp:revision>
  <dcterms:created xsi:type="dcterms:W3CDTF">2026-08-27T00:47:52Z</dcterms:created>
  <dcterms:modified xsi:type="dcterms:W3CDTF">2026-08-27T07:35:48Z</dcterms:modified>
</cp:coreProperties>
</file>