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f53a1c72345f9" /><Relationship Type="http://schemas.openxmlformats.org/officeDocument/2006/relationships/extended-properties" Target="/docProps/app.xml" Id="Rf88a97b0d51047bc" /><Relationship Type="http://schemas.openxmlformats.org/officeDocument/2006/relationships/officeDocument" Target="/ppt/presentation.xml" Id="R8aafa74d61b640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8f370e9bc147fc"/>
  </p:sldMasterIdLst>
  <p:notesMasterIdLst>
    <p:notesMasterId xmlns:r="http://schemas.openxmlformats.org/officeDocument/2006/relationships" r:id="R4e6185bfd7be4980"/>
  </p:notesMasterIdLst>
  <p:sldIdLst>
    <p:sldId xmlns:r="http://schemas.openxmlformats.org/officeDocument/2006/relationships" id="256" r:id="R3ff134e4ea3d451e"/>
    <p:sldId xmlns:r="http://schemas.openxmlformats.org/officeDocument/2006/relationships" id="257" r:id="Rcbda80345bc64341"/>
    <p:sldId xmlns:r="http://schemas.openxmlformats.org/officeDocument/2006/relationships" id="258" r:id="R05f718743b1d4a08"/>
    <p:sldId xmlns:r="http://schemas.openxmlformats.org/officeDocument/2006/relationships" id="259" r:id="R293d682a84b146b6"/>
    <p:sldId xmlns:r="http://schemas.openxmlformats.org/officeDocument/2006/relationships" id="260" r:id="R4939b373903d43c4"/>
    <p:sldId xmlns:r="http://schemas.openxmlformats.org/officeDocument/2006/relationships" id="261" r:id="R21b9b2fc1e1b440a"/>
    <p:sldId xmlns:r="http://schemas.openxmlformats.org/officeDocument/2006/relationships" id="262" r:id="R61680cd17068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05394bc1b54295" /><Relationship Type="http://schemas.openxmlformats.org/officeDocument/2006/relationships/slideMaster" Target="/ppt/slideMasters/slideMaster1.xml" Id="Rca8f370e9bc147fc" /><Relationship Type="http://schemas.openxmlformats.org/officeDocument/2006/relationships/notesMaster" Target="/ppt/notesMasters/notesMaster1.xml" Id="R4e6185bfd7be4980" /><Relationship Type="http://schemas.openxmlformats.org/officeDocument/2006/relationships/presProps" Target="/ppt/presProps.xml" Id="R3c50759647e0402e" /><Relationship Type="http://schemas.openxmlformats.org/officeDocument/2006/relationships/tableStyles" Target="/ppt/tableStyles.xml" Id="R3ac1f9337a924a30" /><Relationship Type="http://schemas.openxmlformats.org/officeDocument/2006/relationships/slide" Target="/ppt/slides/slide1.xml" Id="R3ff134e4ea3d451e" /><Relationship Type="http://schemas.openxmlformats.org/officeDocument/2006/relationships/slide" Target="/ppt/slides/slide2.xml" Id="Rcbda80345bc64341" /><Relationship Type="http://schemas.openxmlformats.org/officeDocument/2006/relationships/slide" Target="/ppt/slides/slide3.xml" Id="R05f718743b1d4a08" /><Relationship Type="http://schemas.openxmlformats.org/officeDocument/2006/relationships/slide" Target="/ppt/slides/slide4.xml" Id="R293d682a84b146b6" /><Relationship Type="http://schemas.openxmlformats.org/officeDocument/2006/relationships/slide" Target="/ppt/slides/slide5.xml" Id="R4939b373903d43c4" /><Relationship Type="http://schemas.openxmlformats.org/officeDocument/2006/relationships/slide" Target="/ppt/slides/slide6.xml" Id="R21b9b2fc1e1b440a" /><Relationship Type="http://schemas.openxmlformats.org/officeDocument/2006/relationships/slide" Target="/ppt/slides/slide7.xml" Id="R61680cd17068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962e3994b42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09a356dad4608" /><Relationship Type="http://schemas.openxmlformats.org/officeDocument/2006/relationships/notesMaster" Target="/ppt/notesMasters/notesMaster1.xml" Id="Rdb6b504da12e4c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08049a8cf84d89" /><Relationship Type="http://schemas.openxmlformats.org/officeDocument/2006/relationships/notesMaster" Target="/ppt/notesMasters/notesMaster1.xml" Id="R634fa73f665247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ee5f4fa10d48d4" /><Relationship Type="http://schemas.openxmlformats.org/officeDocument/2006/relationships/notesMaster" Target="/ppt/notesMasters/notesMaster1.xml" Id="Rb7fa7538c0454a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1ab8103b89476f" /><Relationship Type="http://schemas.openxmlformats.org/officeDocument/2006/relationships/notesMaster" Target="/ppt/notesMasters/notesMaster1.xml" Id="Rb35e838aa19b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62145c38664ed1" /><Relationship Type="http://schemas.openxmlformats.org/officeDocument/2006/relationships/notesMaster" Target="/ppt/notesMasters/notesMaster1.xml" Id="R99b59f587a424e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a6b5754f24c1b" /><Relationship Type="http://schemas.openxmlformats.org/officeDocument/2006/relationships/notesMaster" Target="/ppt/notesMasters/notesMaster1.xml" Id="R146d97887e9d4e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1c546b56cc4d69" /><Relationship Type="http://schemas.openxmlformats.org/officeDocument/2006/relationships/notesMaster" Target="/ppt/notesMasters/notesMaster1.xml" Id="R113c0367cd844f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NuvioTV-Web brand assets and product description.</a:t>
            </a:r>
          </a:p>
          <a:p xmlns:a="http://schemas.openxmlformats.org/drawingml/2006/main">
            <a:r>
              <a:t>Samsung Seller Office publication and packaging requirements: https://developer.samsung.com/tv-seller-office/checklists-for-distribution/launch-checklist.html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Nuvio Android product positioning and publisher/contact reference: https://play.google.com/store/apps/details?id=com.nuvio.app</a:t>
            </a:r>
          </a:p>
          <a:p xmlns:a="http://schemas.openxmlformats.org/drawingml/2006/main">
            <a:r>
              <a:t>Store publisher, support and legal fields are copied into the accompanying submission draft at the publisher’s request and still require Seller Office account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 captured from the NuvioTV-Web build at 1920x1080.</a:t>
            </a:r>
          </a:p>
          <a:p xmlns:a="http://schemas.openxmlformats.org/drawingml/2006/main">
            <a:r>
              <a:t>Nuvio Android product positioning reference: https://play.google.com/store/apps/details?id=com.nuvio.app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screenshots captured from the NuvioTV-Web build at 1920x1080.</a:t>
            </a:r>
          </a:p>
          <a:p xmlns:a="http://schemas.openxmlformats.org/drawingml/2006/main">
            <a:r>
              <a:t>Nuvio Android product positioning reference: https://play.google.com/store/apps/details?id=com.nuvio.app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English screenshot captured from the NuvioTV-Web build at 1920x1080.</a:t>
            </a:r>
          </a:p>
          <a:p xmlns:a="http://schemas.openxmlformats.org/drawingml/2006/main">
            <a:r>
              <a:t>The screenshot shows the first Appearance screen, including color themes, AMOLED mode, settings style and app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Samsung Launch Checklist: https://developer.samsung.com/tv-seller-office/checklists-for-distribution/launch-checklist.html</a:t>
            </a:r>
          </a:p>
          <a:p xmlns:a="http://schemas.openxmlformats.org/drawingml/2006/main">
            <a:r>
              <a:t>Samsung Publishing an application: https://developer.samsung.com/tizen/Smart-TV/Quickstarts/Publishing-an-application.html</a:t>
            </a:r>
          </a:p>
          <a:p xmlns:a="http://schemas.openxmlformats.org/drawingml/2006/main">
            <a:r>
              <a:t>Samsung Becoming Partners: https://developer.samsung.com/tv-seller-office/guides/membership/becoming-partner.html</a:t>
            </a:r>
          </a:p>
          <a:p xmlns:a="http://schemas.openxmlformats.org/drawingml/2006/main">
            <a:r>
              <a:t>Samsung Privileges Q&amp;A: https://developer.samsung.com/smarttv/develop/faq/privileges.html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Samsung Seller Office requires test information for certification and verification: https://developer.samsung.com/tv-seller-office/</a:t>
            </a:r>
          </a:p>
          <a:p xmlns:a="http://schemas.openxmlformats.org/drawingml/2006/main">
            <a:r>
              <a:t>Samsung player information fields: https://developer.samsung.com/tv-seller-office/guides/applications/entering-application-information.html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4763253b4a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6107023e374f56" /><Relationship Type="http://schemas.openxmlformats.org/officeDocument/2006/relationships/slideLayout" Target="/ppt/slideLayouts/slideLayout1.xml" Id="Rc6fbf05b6f3c42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fbf05b6f3c42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3eed2620e4daa" /><Relationship Type="http://schemas.openxmlformats.org/officeDocument/2006/relationships/image" Target="/ppt/media/image.png" Id="R7f60f49f244e4657" /><Relationship Type="http://schemas.openxmlformats.org/officeDocument/2006/relationships/image" Target="/ppt/media/image2.png" Id="R10a7e94418a24dfb" /><Relationship Type="http://schemas.openxmlformats.org/officeDocument/2006/relationships/notesSlide" Target="/ppt/notesSlides/notesSlide1.xml" Id="R5a8efe4843e8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6832899244899" /><Relationship Type="http://schemas.openxmlformats.org/officeDocument/2006/relationships/notesSlide" Target="/ppt/notesSlides/notesSlide2.xml" Id="Rb4a502ce619c4c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17034b0fa4b3a" /><Relationship Type="http://schemas.openxmlformats.org/officeDocument/2006/relationships/image" Target="/ppt/media/image3.png" Id="R3cf93e5f1e24434b" /><Relationship Type="http://schemas.openxmlformats.org/officeDocument/2006/relationships/notesSlide" Target="/ppt/notesSlides/notesSlide3.xml" Id="R51e531347e9d46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470ae6a944151" /><Relationship Type="http://schemas.openxmlformats.org/officeDocument/2006/relationships/image" Target="/ppt/media/image4.png" Id="R84c4da81f21a4bbe" /><Relationship Type="http://schemas.openxmlformats.org/officeDocument/2006/relationships/image" Target="/ppt/media/image5.png" Id="R8e7e22de9492489e" /><Relationship Type="http://schemas.openxmlformats.org/officeDocument/2006/relationships/notesSlide" Target="/ppt/notesSlides/notesSlide4.xml" Id="Rbd077780320f48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f7fac2bab4057" /><Relationship Type="http://schemas.openxmlformats.org/officeDocument/2006/relationships/image" Target="/ppt/media/image6.png" Id="R7a2264d92dd34e7a" /><Relationship Type="http://schemas.openxmlformats.org/officeDocument/2006/relationships/notesSlide" Target="/ppt/notesSlides/notesSlide5.xml" Id="R43c3a424b36d49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b2410081e4f08" /><Relationship Type="http://schemas.openxmlformats.org/officeDocument/2006/relationships/notesSlide" Target="/ppt/notesSlides/notesSlide6.xml" Id="Rdce4a20bfa074d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b96de4e1847fe" /><Relationship Type="http://schemas.openxmlformats.org/officeDocument/2006/relationships/notesSlide" Target="/ppt/notesSlides/notesSlide7.xml" Id="Recd869b599314d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bg">
            <a:extLst xmlns:a="http://schemas.openxmlformats.org/drawingml/2006/main">
              <a:ext uri="{FF2B5EF4-FFF2-40B4-BE49-F238E27FC236}">
                <a16:creationId xmlns:a16="http://schemas.microsoft.com/office/drawing/2014/main" id="{54D06B74-B9DC-45D3-B736-B80C427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E5DBA47-8D61-412F-B97F-3EDAEC73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6667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4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0f49f244e4657"/>
          <a:stretch xmlns:a="http://schemas.openxmlformats.org/drawingml/2006/main"/>
        </p:blipFill>
        <p:spPr>
          <a:xfrm xmlns:a="http://schemas.openxmlformats.org/drawingml/2006/main">
            <a:off x="857250" y="628913"/>
            <a:ext cx="2762250" cy="875773"/>
          </a:xfrm>
          <a:prstGeom xmlns:a="http://schemas.openxmlformats.org/drawingml/2006/main" prst="roundRect">
            <a:avLst>
              <a:gd name="adj" fmla="val 8696"/>
            </a:avLst>
          </a:prstGeom>
        </p:spPr>
      </p:pic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FC828BD-3B8A-4497-8CD1-AF5A951D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SAMSUNG TV</a:t>
            </a:r>
          </a:p>
          <a:p xmlns:a="http://schemas.openxmlformats.org/drawingml/2006/main">
            <a:pPr algn="l">
              <a:defRPr sz="37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UI DESCRIPTION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9B3F9B6-2E60-448D-8F23-FE494F5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Tizen 4+ • Seller Office submission draft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22618B18-74E6-4B2D-9D3D-6121F55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A big-screen media organizer for movies and series.</a:t>
            </a:r>
          </a:p>
          <a:p xmlns:a="http://schemas.openxmlformats.org/drawingml/2006/main">
            <a:pPr algn="l">
              <a:def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The user brings the sources; Nuvio organizes the experience.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7e94418a24dfb"/>
          <a:stretch xmlns:a="http://schemas.openxmlformats.org/drawingml/2006/main"/>
        </p:blipFill>
        <p:spPr>
          <a:xfrm xmlns:a="http://schemas.openxmlformats.org/drawingml/2006/main">
            <a:off x="8286750" y="158115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84FB1CE3-B490-465A-AF58-622859E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rPr>
              <a:t>PREPARED FOR CERTIFICATION</a:t>
            </a:r>
          </a:p>
          <a:p xmlns:a="http://schemas.openxmlformats.org/drawingml/2006/main">
            <a:pPr algn="ctr">
              <a:def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rPr>
              <a:t>UI, navigation and test scenario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2A52A5-8471-493A-BFA6-B2CE9BA1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1D742B7-165E-4BED-9F1A-7F1A187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Samsung TV UI Description • 2026-08 draft</a:t>
            </a:r>
          </a:p>
        </p:txBody>
      </p:sp>
    </p:spTree>
    <p:extLst>
      <p:ext uri="{BB962C8B-B14F-4D97-AF65-F5344CB8AC3E}">
        <p14:creationId xmlns:p14="http://schemas.microsoft.com/office/powerpoint/2010/main" val="2112449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2">
            <a:extLst xmlns:a="http://schemas.openxmlformats.org/drawingml/2006/main">
              <a:ext uri="{FF2B5EF4-FFF2-40B4-BE49-F238E27FC236}">
                <a16:creationId xmlns:a16="http://schemas.microsoft.com/office/drawing/2014/main" id="{61DFEB2C-6386-4848-8983-DBF8C16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PRODUCT OVERVIEW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59F9352-A94E-483B-B54F-2BA58288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What the TV app does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17E0F04D-51D4-4318-B5B4-26B201AE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overview-panel">
            <a:extLst xmlns:a="http://schemas.openxmlformats.org/drawingml/2006/main">
              <a:ext uri="{FF2B5EF4-FFF2-40B4-BE49-F238E27FC236}">
                <a16:creationId xmlns:a16="http://schemas.microsoft.com/office/drawing/2014/main" id="{13698FD1-B966-4D18-8317-67CF1F4B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5143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5" name="overview-heading">
            <a:extLst xmlns:a="http://schemas.openxmlformats.org/drawingml/2006/main">
              <a:ext uri="{FF2B5EF4-FFF2-40B4-BE49-F238E27FC236}">
                <a16:creationId xmlns:a16="http://schemas.microsoft.com/office/drawing/2014/main" id="{837A0DDB-3BD2-4D4D-8B11-9A7313BA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A focused TV experience</a:t>
            </a:r>
          </a:p>
        </p:txBody>
      </p:sp>
      <p:sp>
        <p:nvSpPr>
          <p:cNvPr id="6" name="overview-body">
            <a:extLst xmlns:a="http://schemas.openxmlformats.org/drawingml/2006/main">
              <a:ext uri="{FF2B5EF4-FFF2-40B4-BE49-F238E27FC236}">
                <a16:creationId xmlns:a16="http://schemas.microsoft.com/office/drawing/2014/main" id="{50754B3A-C45E-437E-86ED-6207DDB4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286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is a modern media organizer for movies and TV shows. It helps users discover titles, build a library, save favorites, track progress and keep their watch history in sync with supported services.</a:t>
            </a:r>
          </a:p>
        </p:txBody>
      </p:sp>
      <p:sp>
        <p:nvSpPr>
          <p:cNvPr id="7" name="overview-disclosure">
            <a:extLst xmlns:a="http://schemas.openxmlformats.org/drawingml/2006/main">
              <a:ext uri="{FF2B5EF4-FFF2-40B4-BE49-F238E27FC236}">
                <a16:creationId xmlns:a16="http://schemas.microsoft.com/office/drawing/2014/main" id="{03830D53-FF19-4E3B-A26D-4FC5271B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28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Nuvio does not host a catalog or video library. Catalogs and playable sources come from the user’s configured add-ons and supported services.</a:t>
            </a:r>
          </a:p>
        </p:txBody>
      </p:sp>
      <p:sp>
        <p:nvSpPr>
          <p:cNvPr id="8" name="nav-panel">
            <a:extLst xmlns:a="http://schemas.openxmlformats.org/drawingml/2006/main">
              <a:ext uri="{FF2B5EF4-FFF2-40B4-BE49-F238E27FC236}">
                <a16:creationId xmlns:a16="http://schemas.microsoft.com/office/drawing/2014/main" id="{AF99BDD4-AA13-490F-94DA-D4C79C50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38300"/>
            <a:ext cx="57912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9" name="nav-heading">
            <a:extLst xmlns:a="http://schemas.openxmlformats.org/drawingml/2006/main">
              <a:ext uri="{FF2B5EF4-FFF2-40B4-BE49-F238E27FC236}">
                <a16:creationId xmlns:a16="http://schemas.microsoft.com/office/drawing/2014/main" id="{2F4A7221-4B5C-487D-98FB-4C0079F2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Primary navigation</a:t>
            </a:r>
          </a:p>
        </p:txBody>
      </p:sp>
      <p:sp>
        <p:nvSpPr>
          <p:cNvPr id="10" name="nav-chip-0">
            <a:extLst xmlns:a="http://schemas.openxmlformats.org/drawingml/2006/main">
              <a:ext uri="{FF2B5EF4-FFF2-40B4-BE49-F238E27FC236}">
                <a16:creationId xmlns:a16="http://schemas.microsoft.com/office/drawing/2014/main" id="{3750B271-E0FB-4FB8-950B-F5AC53D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71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64B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av-label-0">
            <a:extLst xmlns:a="http://schemas.openxmlformats.org/drawingml/2006/main">
              <a:ext uri="{FF2B5EF4-FFF2-40B4-BE49-F238E27FC236}">
                <a16:creationId xmlns:a16="http://schemas.microsoft.com/office/drawing/2014/main" id="{4A20BA97-E6A0-4FB8-A375-0BD7430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HOME</a:t>
            </a:r>
          </a:p>
        </p:txBody>
      </p:sp>
      <p:sp>
        <p:nvSpPr>
          <p:cNvPr id="12" name="nav-value-0">
            <a:extLst xmlns:a="http://schemas.openxmlformats.org/drawingml/2006/main">
              <a:ext uri="{FF2B5EF4-FFF2-40B4-BE49-F238E27FC236}">
                <a16:creationId xmlns:a16="http://schemas.microsoft.com/office/drawing/2014/main" id="{208D926C-E808-4999-9B28-FFD0C7E2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Featured and popular rows with a focused hero area.</a:t>
            </a:r>
          </a:p>
        </p:txBody>
      </p:sp>
      <p:sp>
        <p:nvSpPr>
          <p:cNvPr id="13" name="nav-chip-1">
            <a:extLst xmlns:a="http://schemas.openxmlformats.org/drawingml/2006/main">
              <a:ext uri="{FF2B5EF4-FFF2-40B4-BE49-F238E27FC236}">
                <a16:creationId xmlns:a16="http://schemas.microsoft.com/office/drawing/2014/main" id="{8B1691BB-1BE5-40AE-A267-43FF1F12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1371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32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av-label-1">
            <a:extLst xmlns:a="http://schemas.openxmlformats.org/drawingml/2006/main">
              <a:ext uri="{FF2B5EF4-FFF2-40B4-BE49-F238E27FC236}">
                <a16:creationId xmlns:a16="http://schemas.microsoft.com/office/drawing/2014/main" id="{1A4AD2B9-53C1-4C98-B55C-99021C9E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5" name="nav-value-1">
            <a:extLst xmlns:a="http://schemas.openxmlformats.org/drawingml/2006/main">
              <a:ext uri="{FF2B5EF4-FFF2-40B4-BE49-F238E27FC236}">
                <a16:creationId xmlns:a16="http://schemas.microsoft.com/office/drawing/2014/main" id="{022450F9-0EC6-4A86-82C2-13C1F1AB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Search titles and browse results from configured catalogs.</a:t>
            </a:r>
          </a:p>
        </p:txBody>
      </p:sp>
      <p:sp>
        <p:nvSpPr>
          <p:cNvPr id="16" name="nav-chip-2">
            <a:extLst xmlns:a="http://schemas.openxmlformats.org/drawingml/2006/main">
              <a:ext uri="{FF2B5EF4-FFF2-40B4-BE49-F238E27FC236}">
                <a16:creationId xmlns:a16="http://schemas.microsoft.com/office/drawing/2014/main" id="{0F7EEA3D-E913-4855-8593-4A44E88E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371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32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av-label-2">
            <a:extLst xmlns:a="http://schemas.openxmlformats.org/drawingml/2006/main">
              <a:ext uri="{FF2B5EF4-FFF2-40B4-BE49-F238E27FC236}">
                <a16:creationId xmlns:a16="http://schemas.microsoft.com/office/drawing/2014/main" id="{D1A29BD6-7A0B-466E-B0DC-20A1073D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LIBRARY</a:t>
            </a:r>
          </a:p>
        </p:txBody>
      </p:sp>
      <p:sp>
        <p:nvSpPr>
          <p:cNvPr id="18" name="nav-value-2">
            <a:extLst xmlns:a="http://schemas.openxmlformats.org/drawingml/2006/main">
              <a:ext uri="{FF2B5EF4-FFF2-40B4-BE49-F238E27FC236}">
                <a16:creationId xmlns:a16="http://schemas.microsoft.com/office/drawing/2014/main" id="{C13F4220-8394-4655-A57A-72A63759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Saved titles, cloud libraries and progress-oriented views.</a:t>
            </a:r>
          </a:p>
        </p:txBody>
      </p:sp>
      <p:sp>
        <p:nvSpPr>
          <p:cNvPr id="19" name="nav-chip-3">
            <a:extLst xmlns:a="http://schemas.openxmlformats.org/drawingml/2006/main">
              <a:ext uri="{FF2B5EF4-FFF2-40B4-BE49-F238E27FC236}">
                <a16:creationId xmlns:a16="http://schemas.microsoft.com/office/drawing/2014/main" id="{F3AABF13-223C-4B25-B4D4-3C12F48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72000"/>
            <a:ext cx="1371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32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av-label-3">
            <a:extLst xmlns:a="http://schemas.openxmlformats.org/drawingml/2006/main">
              <a:ext uri="{FF2B5EF4-FFF2-40B4-BE49-F238E27FC236}">
                <a16:creationId xmlns:a16="http://schemas.microsoft.com/office/drawing/2014/main" id="{2EDFFC0A-2F85-4584-9837-4DE3E16A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SETTINGS</a:t>
            </a:r>
          </a:p>
        </p:txBody>
      </p:sp>
      <p:sp>
        <p:nvSpPr>
          <p:cNvPr id="21" name="nav-value-3">
            <a:extLst xmlns:a="http://schemas.openxmlformats.org/drawingml/2006/main">
              <a:ext uri="{FF2B5EF4-FFF2-40B4-BE49-F238E27FC236}">
                <a16:creationId xmlns:a16="http://schemas.microsoft.com/office/drawing/2014/main" id="{1041EA2F-B459-4305-87F5-02DA591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Profiles, integrations, playback, appearance and support.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BB2DE43-7DD5-413D-A9F6-4CBC4DA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539E50AF-1602-4FFA-B861-6AC9C246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Samsung TV UI Description • submission draft</a:t>
            </a:r>
          </a:p>
        </p:txBody>
      </p:sp>
    </p:spTree>
    <p:extLst>
      <p:ext uri="{BB962C8B-B14F-4D97-AF65-F5344CB8AC3E}">
        <p14:creationId xmlns:p14="http://schemas.microsoft.com/office/powerpoint/2010/main" val="1218163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3">
            <a:extLst xmlns:a="http://schemas.openxmlformats.org/drawingml/2006/main">
              <a:ext uri="{FF2B5EF4-FFF2-40B4-BE49-F238E27FC236}">
                <a16:creationId xmlns:a16="http://schemas.microsoft.com/office/drawing/2014/main" id="{1ACAF525-8BB1-4F48-B7F3-CA5759F3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UI FLOW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E29D031-DAE9-4C22-9248-4F4138F7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Home: discovery at TV distance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6B422708-53E4-4451-AC8D-C8814499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home-image-frame">
            <a:extLst xmlns:a="http://schemas.openxmlformats.org/drawingml/2006/main">
              <a:ext uri="{FF2B5EF4-FFF2-40B4-BE49-F238E27FC236}">
                <a16:creationId xmlns:a16="http://schemas.microsoft.com/office/drawing/2014/main" id="{C495A961-AC1F-4C5A-BA52-CAD941E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5886450" cy="3905250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93e5f1e24434b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33550"/>
            <a:ext cx="5695950" cy="32004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6" name="home-caption">
            <a:extLst xmlns:a="http://schemas.openxmlformats.org/drawingml/2006/main">
              <a:ext uri="{FF2B5EF4-FFF2-40B4-BE49-F238E27FC236}">
                <a16:creationId xmlns:a16="http://schemas.microsoft.com/office/drawing/2014/main" id="{C7B66BE2-0D69-43FE-AF9A-36C450A5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569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Home screen captured from the local TV build</a:t>
            </a:r>
          </a:p>
        </p:txBody>
      </p:sp>
      <p:sp>
        <p:nvSpPr>
          <p:cNvPr id="7" name="label-194">
            <a:extLst xmlns:a="http://schemas.openxmlformats.org/drawingml/2006/main">
              <a:ext uri="{FF2B5EF4-FFF2-40B4-BE49-F238E27FC236}">
                <a16:creationId xmlns:a16="http://schemas.microsoft.com/office/drawing/2014/main" id="{F1E415E6-03CF-42C8-9E59-6CD5EBEE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HERO AREA</a:t>
            </a:r>
          </a:p>
        </p:txBody>
      </p:sp>
      <p:sp>
        <p:nvSpPr>
          <p:cNvPr id="8" name="value-194">
            <a:extLst xmlns:a="http://schemas.openxmlformats.org/drawingml/2006/main">
              <a:ext uri="{FF2B5EF4-FFF2-40B4-BE49-F238E27FC236}">
                <a16:creationId xmlns:a16="http://schemas.microsoft.com/office/drawing/2014/main" id="{81DA145C-E2F9-407C-AC16-B81938C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Highlights a focused title with metadata and a short synopsis.</a:t>
            </a:r>
          </a:p>
        </p:txBody>
      </p:sp>
      <p:sp>
        <p:nvSpPr>
          <p:cNvPr id="9" name="label-300">
            <a:extLst xmlns:a="http://schemas.openxmlformats.org/drawingml/2006/main">
              <a:ext uri="{FF2B5EF4-FFF2-40B4-BE49-F238E27FC236}">
                <a16:creationId xmlns:a16="http://schemas.microsoft.com/office/drawing/2014/main" id="{D88240F5-0BA0-43F1-AD66-8867A00A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4B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64BEE"/>
                </a:solidFill>
                <a:latin typeface="Helvetica Neue"/>
                <a:ea typeface="Helvetica Neue"/>
                <a:cs typeface="Helvetica Neue"/>
              </a:rPr>
              <a:t>CONTENT ROWS</a:t>
            </a:r>
          </a:p>
        </p:txBody>
      </p:sp>
      <p:sp>
        <p:nvSpPr>
          <p:cNvPr id="10" name="value-300">
            <a:extLst xmlns:a="http://schemas.openxmlformats.org/drawingml/2006/main">
              <a:ext uri="{FF2B5EF4-FFF2-40B4-BE49-F238E27FC236}">
                <a16:creationId xmlns:a16="http://schemas.microsoft.com/office/drawing/2014/main" id="{406CF75E-D7D3-4BC6-A09D-2A7BE55D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Horizontal rails keep browsing predictable with remote control navigation.</a:t>
            </a:r>
          </a:p>
        </p:txBody>
      </p:sp>
      <p:sp>
        <p:nvSpPr>
          <p:cNvPr id="11" name="label-406">
            <a:extLst xmlns:a="http://schemas.openxmlformats.org/drawingml/2006/main">
              <a:ext uri="{FF2B5EF4-FFF2-40B4-BE49-F238E27FC236}">
                <a16:creationId xmlns:a16="http://schemas.microsoft.com/office/drawing/2014/main" id="{FAD24464-4533-4464-BDBC-CF6FE271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12" name="value-406">
            <a:extLst xmlns:a="http://schemas.openxmlformats.org/drawingml/2006/main">
              <a:ext uri="{FF2B5EF4-FFF2-40B4-BE49-F238E27FC236}">
                <a16:creationId xmlns:a16="http://schemas.microsoft.com/office/drawing/2014/main" id="{967C546E-DBF6-490E-A865-7338B33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The selected item is visually distinct and remains usable at 10-foot distance.</a:t>
            </a:r>
          </a:p>
        </p:txBody>
      </p:sp>
      <p:sp>
        <p:nvSpPr>
          <p:cNvPr id="13" name="label-512">
            <a:extLst xmlns:a="http://schemas.openxmlformats.org/drawingml/2006/main">
              <a:ext uri="{FF2B5EF4-FFF2-40B4-BE49-F238E27FC236}">
                <a16:creationId xmlns:a16="http://schemas.microsoft.com/office/drawing/2014/main" id="{60E7C92A-7B7C-440C-8F32-7FF41270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4" name="value-512">
            <a:extLst xmlns:a="http://schemas.openxmlformats.org/drawingml/2006/main">
              <a:ext uri="{FF2B5EF4-FFF2-40B4-BE49-F238E27FC236}">
                <a16:creationId xmlns:a16="http://schemas.microsoft.com/office/drawing/2014/main" id="{BFFEF8DB-19CA-4E97-B9E5-BEEE4575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Artwork and metadata are loaded from configured catalog providers.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FAB08C-E83F-4815-90CC-9398A6DD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014851C5-0709-41D4-9907-B1CAB4E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Samsung TV UI Description • submission draft</a:t>
            </a:r>
          </a:p>
        </p:txBody>
      </p:sp>
    </p:spTree>
    <p:extLst>
      <p:ext uri="{BB962C8B-B14F-4D97-AF65-F5344CB8AC3E}">
        <p14:creationId xmlns:p14="http://schemas.microsoft.com/office/powerpoint/2010/main" val="1504937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4">
            <a:extLst xmlns:a="http://schemas.openxmlformats.org/drawingml/2006/main">
              <a:ext uri="{FF2B5EF4-FFF2-40B4-BE49-F238E27FC236}">
                <a16:creationId xmlns:a16="http://schemas.microsoft.com/office/drawing/2014/main" id="{44A591E5-D178-4E42-B3B6-ABCC8087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UI FLOW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5085040-493C-42EC-BA54-F4ECA232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Search and library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A23DDD3E-57DD-4623-8309-56CE4B4C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search-image-frame">
            <a:extLst xmlns:a="http://schemas.openxmlformats.org/drawingml/2006/main">
              <a:ext uri="{FF2B5EF4-FFF2-40B4-BE49-F238E27FC236}">
                <a16:creationId xmlns:a16="http://schemas.microsoft.com/office/drawing/2014/main" id="{9C054648-2091-4640-84D0-78E03FBC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54292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4da81f21a4bbe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33550"/>
            <a:ext cx="5238750" cy="2943225"/>
          </a:xfrm>
          <a:prstGeom xmlns:a="http://schemas.openxmlformats.org/drawingml/2006/main" prst="roundRect">
            <a:avLst>
              <a:gd name="adj" fmla="val 2589"/>
            </a:avLst>
          </a:prstGeom>
        </p:spPr>
      </p:pic>
      <p:sp>
        <p:nvSpPr>
          <p:cNvPr id="6" name="search-caption">
            <a:extLst xmlns:a="http://schemas.openxmlformats.org/drawingml/2006/main">
              <a:ext uri="{FF2B5EF4-FFF2-40B4-BE49-F238E27FC236}">
                <a16:creationId xmlns:a16="http://schemas.microsoft.com/office/drawing/2014/main" id="{6894E4D8-CDD3-4D66-B808-9EF555A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Search results</a:t>
            </a:r>
          </a:p>
        </p:txBody>
      </p:sp>
      <p:sp>
        <p:nvSpPr>
          <p:cNvPr id="7" name="library-image-frame">
            <a:extLst xmlns:a="http://schemas.openxmlformats.org/drawingml/2006/main">
              <a:ext uri="{FF2B5EF4-FFF2-40B4-BE49-F238E27FC236}">
                <a16:creationId xmlns:a16="http://schemas.microsoft.com/office/drawing/2014/main" id="{FE025FF5-1CA4-4BBD-823B-0748D1E1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54292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e22de9492489e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733550"/>
            <a:ext cx="5238750" cy="2943225"/>
          </a:xfrm>
          <a:prstGeom xmlns:a="http://schemas.openxmlformats.org/drawingml/2006/main" prst="roundRect">
            <a:avLst>
              <a:gd name="adj" fmla="val 2589"/>
            </a:avLst>
          </a:prstGeom>
        </p:spPr>
      </p:pic>
      <p:sp>
        <p:nvSpPr>
          <p:cNvPr id="9" name="library-caption">
            <a:extLst xmlns:a="http://schemas.openxmlformats.org/drawingml/2006/main">
              <a:ext uri="{FF2B5EF4-FFF2-40B4-BE49-F238E27FC236}">
                <a16:creationId xmlns:a16="http://schemas.microsoft.com/office/drawing/2014/main" id="{6D8717E0-086A-45C8-8196-43FA5F6C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Library and saved titles</a:t>
            </a:r>
          </a:p>
        </p:txBody>
      </p:sp>
      <p:sp>
        <p:nvSpPr>
          <p:cNvPr id="10" name="flow-strip">
            <a:extLst xmlns:a="http://schemas.openxmlformats.org/drawingml/2006/main">
              <a:ext uri="{FF2B5EF4-FFF2-40B4-BE49-F238E27FC236}">
                <a16:creationId xmlns:a16="http://schemas.microsoft.com/office/drawing/2014/main" id="{BE51D03F-CF26-40DA-95DB-1E8F095B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112014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2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search-label">
            <a:extLst xmlns:a="http://schemas.openxmlformats.org/drawingml/2006/main">
              <a:ext uri="{FF2B5EF4-FFF2-40B4-BE49-F238E27FC236}">
                <a16:creationId xmlns:a16="http://schemas.microsoft.com/office/drawing/2014/main" id="{7548B10D-77F8-48AF-A351-78A79652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2" name="flow-search-value">
            <a:extLst xmlns:a="http://schemas.openxmlformats.org/drawingml/2006/main">
              <a:ext uri="{FF2B5EF4-FFF2-40B4-BE49-F238E27FC236}">
                <a16:creationId xmlns:a16="http://schemas.microsoft.com/office/drawing/2014/main" id="{0591498B-3EE5-4541-A4A5-7623FDC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Enter a title with the TV keyboard or voice search.</a:t>
            </a:r>
          </a:p>
        </p:txBody>
      </p:sp>
      <p:sp>
        <p:nvSpPr>
          <p:cNvPr id="13" name="flow-library-label">
            <a:extLst xmlns:a="http://schemas.openxmlformats.org/drawingml/2006/main">
              <a:ext uri="{FF2B5EF4-FFF2-40B4-BE49-F238E27FC236}">
                <a16:creationId xmlns:a16="http://schemas.microsoft.com/office/drawing/2014/main" id="{5E862F59-9213-40A9-86E4-7E042D50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4B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4BEE"/>
                </a:solidFill>
                <a:latin typeface="Helvetica Neue"/>
                <a:ea typeface="Helvetica Neue"/>
                <a:cs typeface="Helvetica Neue"/>
              </a:rPr>
              <a:t>LIBRARY</a:t>
            </a:r>
          </a:p>
        </p:txBody>
      </p:sp>
      <p:sp>
        <p:nvSpPr>
          <p:cNvPr id="14" name="flow-library-value">
            <a:extLst xmlns:a="http://schemas.openxmlformats.org/drawingml/2006/main">
              <a:ext uri="{FF2B5EF4-FFF2-40B4-BE49-F238E27FC236}">
                <a16:creationId xmlns:a16="http://schemas.microsoft.com/office/drawing/2014/main" id="{2BCBE16A-3E57-47F4-BCD9-7760BB75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293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Switch between saved and cloud-backed views when configured.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D45C69-247A-449A-94D5-33EE2B75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0A954DE7-5E76-4A7D-A8CB-C9AC4817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Samsung TV UI Description • submission draft</a:t>
            </a:r>
          </a:p>
        </p:txBody>
      </p:sp>
    </p:spTree>
    <p:extLst>
      <p:ext uri="{BB962C8B-B14F-4D97-AF65-F5344CB8AC3E}">
        <p14:creationId xmlns:p14="http://schemas.microsoft.com/office/powerpoint/2010/main" val="1000189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5">
            <a:extLst xmlns:a="http://schemas.openxmlformats.org/drawingml/2006/main">
              <a:ext uri="{FF2B5EF4-FFF2-40B4-BE49-F238E27FC236}">
                <a16:creationId xmlns:a16="http://schemas.microsoft.com/office/drawing/2014/main" id="{7D593C34-5AB8-4799-9972-15E52B6D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UI FLOW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0B00FE4-9A04-4612-BB00-065B3F2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Appearance and color themes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70C8A82-19B7-409D-A809-70753084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appearance-image-frame">
            <a:extLst xmlns:a="http://schemas.openxmlformats.org/drawingml/2006/main">
              <a:ext uri="{FF2B5EF4-FFF2-40B4-BE49-F238E27FC236}">
                <a16:creationId xmlns:a16="http://schemas.microsoft.com/office/drawing/2014/main" id="{23925A17-5FFC-409B-9513-25612660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5886450" cy="3905250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264d92dd34e7a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33550"/>
            <a:ext cx="5695950" cy="32004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6" name="appearance-caption">
            <a:extLst xmlns:a="http://schemas.openxmlformats.org/drawingml/2006/main">
              <a:ext uri="{FF2B5EF4-FFF2-40B4-BE49-F238E27FC236}">
                <a16:creationId xmlns:a16="http://schemas.microsoft.com/office/drawing/2014/main" id="{63731F5D-C8AD-4631-AD1C-0D33F0E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569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Appearance screen captured from the local English TV build</a:t>
            </a:r>
          </a:p>
        </p:txBody>
      </p:sp>
      <p:sp>
        <p:nvSpPr>
          <p:cNvPr id="7" name="label-194">
            <a:extLst xmlns:a="http://schemas.openxmlformats.org/drawingml/2006/main">
              <a:ext uri="{FF2B5EF4-FFF2-40B4-BE49-F238E27FC236}">
                <a16:creationId xmlns:a16="http://schemas.microsoft.com/office/drawing/2014/main" id="{C6D9ED7E-F3F3-4512-95B7-BCAA29A8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COLOR THEME</a:t>
            </a:r>
          </a:p>
        </p:txBody>
      </p:sp>
      <p:sp>
        <p:nvSpPr>
          <p:cNvPr id="8" name="value-194">
            <a:extLst xmlns:a="http://schemas.openxmlformats.org/drawingml/2006/main">
              <a:ext uri="{FF2B5EF4-FFF2-40B4-BE49-F238E27FC236}">
                <a16:creationId xmlns:a16="http://schemas.microsoft.com/office/drawing/2014/main" id="{C8969853-FBB0-467E-914F-69E40128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Choose the accent color used throughout the TV experience.</a:t>
            </a:r>
          </a:p>
        </p:txBody>
      </p:sp>
      <p:sp>
        <p:nvSpPr>
          <p:cNvPr id="9" name="label-300">
            <a:extLst xmlns:a="http://schemas.openxmlformats.org/drawingml/2006/main">
              <a:ext uri="{FF2B5EF4-FFF2-40B4-BE49-F238E27FC236}">
                <a16:creationId xmlns:a16="http://schemas.microsoft.com/office/drawing/2014/main" id="{CDEA4BD8-A557-4FDB-B22D-0F345DFA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4B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64BEE"/>
                </a:solidFill>
                <a:latin typeface="Helvetica Neue"/>
                <a:ea typeface="Helvetica Neue"/>
                <a:cs typeface="Helvetica Neue"/>
              </a:rPr>
              <a:t>AMOLED MODE</a:t>
            </a:r>
          </a:p>
        </p:txBody>
      </p:sp>
      <p:sp>
        <p:nvSpPr>
          <p:cNvPr id="10" name="value-300">
            <a:extLst xmlns:a="http://schemas.openxmlformats.org/drawingml/2006/main">
              <a:ext uri="{FF2B5EF4-FFF2-40B4-BE49-F238E27FC236}">
                <a16:creationId xmlns:a16="http://schemas.microsoft.com/office/drawing/2014/main" id="{19115DC1-8CEF-4AE6-88B3-B771DF6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Use pure black backgrounds for a high-contrast dark presentation.</a:t>
            </a:r>
          </a:p>
        </p:txBody>
      </p:sp>
      <p:sp>
        <p:nvSpPr>
          <p:cNvPr id="11" name="label-406">
            <a:extLst xmlns:a="http://schemas.openxmlformats.org/drawingml/2006/main">
              <a:ext uri="{FF2B5EF4-FFF2-40B4-BE49-F238E27FC236}">
                <a16:creationId xmlns:a16="http://schemas.microsoft.com/office/drawing/2014/main" id="{E3709BDF-80A6-425F-841C-41FF3DFC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rPr>
              <a:t>SETTINGS STYLE</a:t>
            </a:r>
          </a:p>
        </p:txBody>
      </p:sp>
      <p:sp>
        <p:nvSpPr>
          <p:cNvPr id="12" name="value-406">
            <a:extLst xmlns:a="http://schemas.openxmlformats.org/drawingml/2006/main">
              <a:ext uri="{FF2B5EF4-FFF2-40B4-BE49-F238E27FC236}">
                <a16:creationId xmlns:a16="http://schemas.microsoft.com/office/drawing/2014/main" id="{3D2B94E8-9237-4B52-AE25-B2CE71F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Choose how settings screens are presented on the TV.</a:t>
            </a:r>
          </a:p>
        </p:txBody>
      </p:sp>
      <p:sp>
        <p:nvSpPr>
          <p:cNvPr id="13" name="label-512">
            <a:extLst xmlns:a="http://schemas.openxmlformats.org/drawingml/2006/main">
              <a:ext uri="{FF2B5EF4-FFF2-40B4-BE49-F238E27FC236}">
                <a16:creationId xmlns:a16="http://schemas.microsoft.com/office/drawing/2014/main" id="{221F522D-CACC-4486-8A6A-3AFAEC40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LANGUAGE</a:t>
            </a:r>
          </a:p>
        </p:txBody>
      </p:sp>
      <p:sp>
        <p:nvSpPr>
          <p:cNvPr id="14" name="value-512">
            <a:extLst xmlns:a="http://schemas.openxmlformats.org/drawingml/2006/main">
              <a:ext uri="{FF2B5EF4-FFF2-40B4-BE49-F238E27FC236}">
                <a16:creationId xmlns:a16="http://schemas.microsoft.com/office/drawing/2014/main" id="{CFEB0CE2-9EB0-4875-927B-F0DA944F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Override the system language with one of the supported app locales.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6D2617-79A1-4174-988E-99413264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3EB09C13-0D09-485C-B43E-5F0CD36D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Samsung TV UI Description • submission draft</a:t>
            </a:r>
          </a:p>
        </p:txBody>
      </p:sp>
    </p:spTree>
    <p:extLst>
      <p:ext uri="{BB962C8B-B14F-4D97-AF65-F5344CB8AC3E}">
        <p14:creationId xmlns:p14="http://schemas.microsoft.com/office/powerpoint/2010/main" val="1321171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6">
            <a:extLst xmlns:a="http://schemas.openxmlformats.org/drawingml/2006/main">
              <a:ext uri="{FF2B5EF4-FFF2-40B4-BE49-F238E27FC236}">
                <a16:creationId xmlns:a16="http://schemas.microsoft.com/office/drawing/2014/main" id="{A948835C-8EA1-4F8D-BE66-7020CCE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CERTIFICATION PROFILE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EA5616E-0396-4AF0-84FD-E98FB345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Sources and platform routes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A721E00-90F2-487C-8D48-EC3DB5EF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disclosure-intro">
            <a:extLst xmlns:a="http://schemas.openxmlformats.org/drawingml/2006/main">
              <a:ext uri="{FF2B5EF4-FFF2-40B4-BE49-F238E27FC236}">
                <a16:creationId xmlns:a16="http://schemas.microsoft.com/office/drawing/2014/main" id="{0DDAF23A-DDBF-44B6-B9E3-39E1A95C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keeps the TV experience consistent while the signed package follows the selected store profile.</a:t>
            </a:r>
          </a:p>
        </p:txBody>
      </p:sp>
      <p:sp>
        <p:nvSpPr>
          <p:cNvPr id="5" name="disclosure-card-0">
            <a:extLst xmlns:a="http://schemas.openxmlformats.org/drawingml/2006/main">
              <a:ext uri="{FF2B5EF4-FFF2-40B4-BE49-F238E27FC236}">
                <a16:creationId xmlns:a16="http://schemas.microsoft.com/office/drawing/2014/main" id="{39634449-567E-48EE-9CDD-AF0269B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6" name="disclosure-head-0">
            <a:extLst xmlns:a="http://schemas.openxmlformats.org/drawingml/2006/main">
              <a:ext uri="{FF2B5EF4-FFF2-40B4-BE49-F238E27FC236}">
                <a16:creationId xmlns:a16="http://schemas.microsoft.com/office/drawing/2014/main" id="{D02DB8CA-B3B2-4809-9293-665E7E1A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7" name="disclosure-value-0">
            <a:extLst xmlns:a="http://schemas.openxmlformats.org/drawingml/2006/main">
              <a:ext uri="{FF2B5EF4-FFF2-40B4-BE49-F238E27FC236}">
                <a16:creationId xmlns:a16="http://schemas.microsoft.com/office/drawing/2014/main" id="{34381D32-493F-4D24-A7A5-7D5CF281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Tizen 4+</a:t>
            </a:r>
          </a:p>
          <a:p xmlns:a="http://schemas.openxmlformats.org/drawingml/2006/main">
            <a:pPr algn="l">
              <a:def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TV package floor used by Nuvio.</a:t>
            </a:r>
          </a:p>
        </p:txBody>
      </p:sp>
      <p:sp>
        <p:nvSpPr>
          <p:cNvPr id="8" name="disclosure-card-1">
            <a:extLst xmlns:a="http://schemas.openxmlformats.org/drawingml/2006/main">
              <a:ext uri="{FF2B5EF4-FFF2-40B4-BE49-F238E27FC236}">
                <a16:creationId xmlns:a16="http://schemas.microsoft.com/office/drawing/2014/main" id="{7AB1AF70-8B05-48A8-9A4A-FF2A31F0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9" name="disclosure-head-1">
            <a:extLst xmlns:a="http://schemas.openxmlformats.org/drawingml/2006/main">
              <a:ext uri="{FF2B5EF4-FFF2-40B4-BE49-F238E27FC236}">
                <a16:creationId xmlns:a16="http://schemas.microsoft.com/office/drawing/2014/main" id="{E6A25773-A975-4939-9858-1F5381F0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DISTRIBUTION</a:t>
            </a:r>
          </a:p>
        </p:txBody>
      </p:sp>
      <p:sp>
        <p:nvSpPr>
          <p:cNvPr id="10" name="disclosure-value-1">
            <a:extLst xmlns:a="http://schemas.openxmlformats.org/drawingml/2006/main">
              <a:ext uri="{FF2B5EF4-FFF2-40B4-BE49-F238E27FC236}">
                <a16:creationId xmlns:a16="http://schemas.microsoft.com/office/drawing/2014/main" id="{7D49FCEA-0471-4C37-8769-A302C045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Public Seller flow with the countries and model groups approved in Seller Office.</a:t>
            </a:r>
          </a:p>
        </p:txBody>
      </p:sp>
      <p:sp>
        <p:nvSpPr>
          <p:cNvPr id="11" name="disclosure-card-2">
            <a:extLst xmlns:a="http://schemas.openxmlformats.org/drawingml/2006/main">
              <a:ext uri="{FF2B5EF4-FFF2-40B4-BE49-F238E27FC236}">
                <a16:creationId xmlns:a16="http://schemas.microsoft.com/office/drawing/2014/main" id="{468FE248-CFC1-4141-A652-416A5671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12" name="disclosure-head-2">
            <a:extLst xmlns:a="http://schemas.openxmlformats.org/drawingml/2006/main">
              <a:ext uri="{FF2B5EF4-FFF2-40B4-BE49-F238E27FC236}">
                <a16:creationId xmlns:a16="http://schemas.microsoft.com/office/drawing/2014/main" id="{49D6078A-2001-47CF-80B9-B14F6191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SOURCE MODEL</a:t>
            </a:r>
          </a:p>
        </p:txBody>
      </p:sp>
      <p:sp>
        <p:nvSpPr>
          <p:cNvPr id="13" name="disclosure-value-2">
            <a:extLst xmlns:a="http://schemas.openxmlformats.org/drawingml/2006/main">
              <a:ext uri="{FF2B5EF4-FFF2-40B4-BE49-F238E27FC236}">
                <a16:creationId xmlns:a16="http://schemas.microsoft.com/office/drawing/2014/main" id="{D0C6173F-6231-4E31-905E-C0D40F7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User-configured catalogs, add-ons and supported services provide the playable sources.</a:t>
            </a:r>
          </a:p>
        </p:txBody>
      </p:sp>
      <p:sp>
        <p:nvSpPr>
          <p:cNvPr id="14" name="disclosure-card-3">
            <a:extLst xmlns:a="http://schemas.openxmlformats.org/drawingml/2006/main">
              <a:ext uri="{FF2B5EF4-FFF2-40B4-BE49-F238E27FC236}">
                <a16:creationId xmlns:a16="http://schemas.microsoft.com/office/drawing/2014/main" id="{3245581D-D347-4507-86E3-BC05FA7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15" name="disclosure-head-3">
            <a:extLst xmlns:a="http://schemas.openxmlformats.org/drawingml/2006/main">
              <a:ext uri="{FF2B5EF4-FFF2-40B4-BE49-F238E27FC236}">
                <a16:creationId xmlns:a16="http://schemas.microsoft.com/office/drawing/2014/main" id="{85B7965C-2E45-4E5E-9F55-640E9411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rPr>
              <a:t>RELEASE CONTROL</a:t>
            </a:r>
          </a:p>
        </p:txBody>
      </p:sp>
      <p:sp>
        <p:nvSpPr>
          <p:cNvPr id="16" name="disclosure-value-3">
            <a:extLst xmlns:a="http://schemas.openxmlformats.org/drawingml/2006/main">
              <a:ext uri="{FF2B5EF4-FFF2-40B4-BE49-F238E27FC236}">
                <a16:creationId xmlns:a16="http://schemas.microsoft.com/office/drawing/2014/main" id="{751AA2EF-631C-4FA4-9A03-0FF9A6D9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The signed WGT must contain exactly the privileges, metadata and service routes approved for the release.</a:t>
            </a:r>
          </a:p>
        </p:txBody>
      </p:sp>
      <p:sp>
        <p:nvSpPr>
          <p:cNvPr id="17" name="disclosure-note">
            <a:extLst xmlns:a="http://schemas.openxmlformats.org/drawingml/2006/main">
              <a:ext uri="{FF2B5EF4-FFF2-40B4-BE49-F238E27FC236}">
                <a16:creationId xmlns:a16="http://schemas.microsoft.com/office/drawing/2014/main" id="{5B69C376-741F-416D-BCFA-A88B8D4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112014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32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bmission-note-label">
            <a:extLst xmlns:a="http://schemas.openxmlformats.org/drawingml/2006/main">
              <a:ext uri="{FF2B5EF4-FFF2-40B4-BE49-F238E27FC236}">
                <a16:creationId xmlns:a16="http://schemas.microsoft.com/office/drawing/2014/main" id="{5C874C27-1940-46FA-A255-04C52B20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4B83F"/>
                </a:solidFill>
                <a:latin typeface="Helvetica Neue"/>
                <a:ea typeface="Helvetica Neue"/>
                <a:cs typeface="Helvetica Neue"/>
              </a:rPr>
              <a:t>Submission note</a:t>
            </a:r>
          </a:p>
        </p:txBody>
      </p:sp>
      <p:sp>
        <p:nvSpPr>
          <p:cNvPr id="19" name="submission-note-value">
            <a:extLst xmlns:a="http://schemas.openxmlformats.org/drawingml/2006/main">
              <a:ext uri="{FF2B5EF4-FFF2-40B4-BE49-F238E27FC236}">
                <a16:creationId xmlns:a16="http://schemas.microsoft.com/office/drawing/2014/main" id="{F4086E06-5845-44E7-ADD9-0641178B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The final WGT must be signed with the publisher’s Tizen security profile and must contain exactly the privileges and metadata approved in Seller Office.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9968D09-D223-462B-AB42-39876E16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BEF80B1F-2047-40DB-A6C2-0043968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Samsung TV UI Description • submission draft</a:t>
            </a:r>
          </a:p>
        </p:txBody>
      </p:sp>
    </p:spTree>
    <p:extLst>
      <p:ext uri="{BB962C8B-B14F-4D97-AF65-F5344CB8AC3E}">
        <p14:creationId xmlns:p14="http://schemas.microsoft.com/office/powerpoint/2010/main" val="1933316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7">
            <a:extLst xmlns:a="http://schemas.openxmlformats.org/drawingml/2006/main">
              <a:ext uri="{FF2B5EF4-FFF2-40B4-BE49-F238E27FC236}">
                <a16:creationId xmlns:a16="http://schemas.microsoft.com/office/drawing/2014/main" id="{79239C14-97B3-4314-A398-B999EF5F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CERTIFICATION TEST SCENARIO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78C27FC-489A-460F-BD92-F8F63275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Suggested verification path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179481D1-2E72-403B-A45D-FA777A79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qa-card-0">
            <a:extLst xmlns:a="http://schemas.openxmlformats.org/drawingml/2006/main">
              <a:ext uri="{FF2B5EF4-FFF2-40B4-BE49-F238E27FC236}">
                <a16:creationId xmlns:a16="http://schemas.microsoft.com/office/drawing/2014/main" id="{E72C7A18-D041-4F8B-A8EB-A7B6F2BC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5" name="qa-number-0">
            <a:extLst xmlns:a="http://schemas.openxmlformats.org/drawingml/2006/main">
              <a:ext uri="{FF2B5EF4-FFF2-40B4-BE49-F238E27FC236}">
                <a16:creationId xmlns:a16="http://schemas.microsoft.com/office/drawing/2014/main" id="{F29A8BF9-0155-4E76-825A-3476806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qa-title-0">
            <a:extLst xmlns:a="http://schemas.openxmlformats.org/drawingml/2006/main">
              <a:ext uri="{FF2B5EF4-FFF2-40B4-BE49-F238E27FC236}">
                <a16:creationId xmlns:a16="http://schemas.microsoft.com/office/drawing/2014/main" id="{77A69440-2132-4B81-81C3-DF992425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62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7" name="qa-value-0">
            <a:extLst xmlns:a="http://schemas.openxmlformats.org/drawingml/2006/main">
              <a:ext uri="{FF2B5EF4-FFF2-40B4-BE49-F238E27FC236}">
                <a16:creationId xmlns:a16="http://schemas.microsoft.com/office/drawing/2014/main" id="{4F44A5E9-35B2-4F80-8080-A5BD6E4A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Open the signed WGT and verify the initial profile screen.</a:t>
            </a:r>
          </a:p>
        </p:txBody>
      </p:sp>
      <p:sp>
        <p:nvSpPr>
          <p:cNvPr id="8" name="qa-card-1">
            <a:extLst xmlns:a="http://schemas.openxmlformats.org/drawingml/2006/main">
              <a:ext uri="{FF2B5EF4-FFF2-40B4-BE49-F238E27FC236}">
                <a16:creationId xmlns:a16="http://schemas.microsoft.com/office/drawing/2014/main" id="{95598862-70A3-4A25-9249-9C02AD7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526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9" name="qa-number-1">
            <a:extLst xmlns:a="http://schemas.openxmlformats.org/drawingml/2006/main">
              <a:ext uri="{FF2B5EF4-FFF2-40B4-BE49-F238E27FC236}">
                <a16:creationId xmlns:a16="http://schemas.microsoft.com/office/drawing/2014/main" id="{9D79603E-498B-49DD-88A5-6FC1F746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qa-title-1">
            <a:extLst xmlns:a="http://schemas.openxmlformats.org/drawingml/2006/main">
              <a:ext uri="{FF2B5EF4-FFF2-40B4-BE49-F238E27FC236}">
                <a16:creationId xmlns:a16="http://schemas.microsoft.com/office/drawing/2014/main" id="{2A7291B8-0377-4437-B296-FF7045E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62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Home</a:t>
            </a:r>
          </a:p>
        </p:txBody>
      </p:sp>
      <p:sp>
        <p:nvSpPr>
          <p:cNvPr id="11" name="qa-value-1">
            <a:extLst xmlns:a="http://schemas.openxmlformats.org/drawingml/2006/main">
              <a:ext uri="{FF2B5EF4-FFF2-40B4-BE49-F238E27FC236}">
                <a16:creationId xmlns:a16="http://schemas.microsoft.com/office/drawing/2014/main" id="{471B990C-C754-4D75-A104-F1E49DED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Select a profile and verify hero focus, rows and remote navigation.</a:t>
            </a:r>
          </a:p>
        </p:txBody>
      </p:sp>
      <p:sp>
        <p:nvSpPr>
          <p:cNvPr id="12" name="qa-card-2">
            <a:extLst xmlns:a="http://schemas.openxmlformats.org/drawingml/2006/main">
              <a:ext uri="{FF2B5EF4-FFF2-40B4-BE49-F238E27FC236}">
                <a16:creationId xmlns:a16="http://schemas.microsoft.com/office/drawing/2014/main" id="{5F614DF9-FEB1-444A-9AC9-9C888AA3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13" name="qa-number-2">
            <a:extLst xmlns:a="http://schemas.openxmlformats.org/drawingml/2006/main">
              <a:ext uri="{FF2B5EF4-FFF2-40B4-BE49-F238E27FC236}">
                <a16:creationId xmlns:a16="http://schemas.microsoft.com/office/drawing/2014/main" id="{9B5C240C-838E-4551-8715-55ADAA25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qa-title-2">
            <a:extLst xmlns:a="http://schemas.openxmlformats.org/drawingml/2006/main">
              <a:ext uri="{FF2B5EF4-FFF2-40B4-BE49-F238E27FC236}">
                <a16:creationId xmlns:a16="http://schemas.microsoft.com/office/drawing/2014/main" id="{0963E53A-13B2-42BE-B3BD-37DA7EBB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5" name="qa-value-2">
            <a:extLst xmlns:a="http://schemas.openxmlformats.org/drawingml/2006/main">
              <a:ext uri="{FF2B5EF4-FFF2-40B4-BE49-F238E27FC236}">
                <a16:creationId xmlns:a16="http://schemas.microsoft.com/office/drawing/2014/main" id="{29E53AB6-C7FA-4D92-B690-94D0420C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Search a known title and open the matching result.</a:t>
            </a:r>
          </a:p>
        </p:txBody>
      </p:sp>
      <p:sp>
        <p:nvSpPr>
          <p:cNvPr id="16" name="qa-card-3">
            <a:extLst xmlns:a="http://schemas.openxmlformats.org/drawingml/2006/main">
              <a:ext uri="{FF2B5EF4-FFF2-40B4-BE49-F238E27FC236}">
                <a16:creationId xmlns:a16="http://schemas.microsoft.com/office/drawing/2014/main" id="{89A62013-3604-4F5F-B135-BA1BFFEE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17" name="qa-number-3">
            <a:extLst xmlns:a="http://schemas.openxmlformats.org/drawingml/2006/main">
              <a:ext uri="{FF2B5EF4-FFF2-40B4-BE49-F238E27FC236}">
                <a16:creationId xmlns:a16="http://schemas.microsoft.com/office/drawing/2014/main" id="{8631397E-B88D-416A-8C66-E1DCE04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qa-title-3">
            <a:extLst xmlns:a="http://schemas.openxmlformats.org/drawingml/2006/main">
              <a:ext uri="{FF2B5EF4-FFF2-40B4-BE49-F238E27FC236}">
                <a16:creationId xmlns:a16="http://schemas.microsoft.com/office/drawing/2014/main" id="{EC8AB03B-89ED-42B3-8494-AD7588F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Library</a:t>
            </a:r>
          </a:p>
        </p:txBody>
      </p:sp>
      <p:sp>
        <p:nvSpPr>
          <p:cNvPr id="19" name="qa-value-3">
            <a:extLst xmlns:a="http://schemas.openxmlformats.org/drawingml/2006/main">
              <a:ext uri="{FF2B5EF4-FFF2-40B4-BE49-F238E27FC236}">
                <a16:creationId xmlns:a16="http://schemas.microsoft.com/office/drawing/2014/main" id="{5087ADA1-A2AE-4106-856E-EFEEE4D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Save a title and confirm it appears in the local library.</a:t>
            </a:r>
          </a:p>
        </p:txBody>
      </p:sp>
      <p:sp>
        <p:nvSpPr>
          <p:cNvPr id="20" name="qa-card-4">
            <a:extLst xmlns:a="http://schemas.openxmlformats.org/drawingml/2006/main">
              <a:ext uri="{FF2B5EF4-FFF2-40B4-BE49-F238E27FC236}">
                <a16:creationId xmlns:a16="http://schemas.microsoft.com/office/drawing/2014/main" id="{6C051833-0314-4F62-A500-4601CD6D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57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21" name="qa-number-4">
            <a:extLst xmlns:a="http://schemas.openxmlformats.org/drawingml/2006/main">
              <a:ext uri="{FF2B5EF4-FFF2-40B4-BE49-F238E27FC236}">
                <a16:creationId xmlns:a16="http://schemas.microsoft.com/office/drawing/2014/main" id="{C0681AB3-FBA0-45F2-8209-CD0243A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qa-title-4">
            <a:extLst xmlns:a="http://schemas.openxmlformats.org/drawingml/2006/main">
              <a:ext uri="{FF2B5EF4-FFF2-40B4-BE49-F238E27FC236}">
                <a16:creationId xmlns:a16="http://schemas.microsoft.com/office/drawing/2014/main" id="{00BA9215-4FAD-4B8F-BAF7-E4FAAFC2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Playback</a:t>
            </a:r>
          </a:p>
        </p:txBody>
      </p:sp>
      <p:sp>
        <p:nvSpPr>
          <p:cNvPr id="23" name="qa-value-4">
            <a:extLst xmlns:a="http://schemas.openxmlformats.org/drawingml/2006/main">
              <a:ext uri="{FF2B5EF4-FFF2-40B4-BE49-F238E27FC236}">
                <a16:creationId xmlns:a16="http://schemas.microsoft.com/office/drawing/2014/main" id="{3661384F-0973-41B8-BB69-6105B465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815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Play a publisher-supplied test source and check audio/subtitle controls.</a:t>
            </a:r>
          </a:p>
        </p:txBody>
      </p:sp>
      <p:sp>
        <p:nvSpPr>
          <p:cNvPr id="24" name="qa-card-5">
            <a:extLst xmlns:a="http://schemas.openxmlformats.org/drawingml/2006/main">
              <a:ext uri="{FF2B5EF4-FFF2-40B4-BE49-F238E27FC236}">
                <a16:creationId xmlns:a16="http://schemas.microsoft.com/office/drawing/2014/main" id="{66AE4A92-ED28-4CFA-93E8-C37DD19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3143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A1C24"/>
          </a:solidFill>
          <a:ln xmlns:a="http://schemas.openxmlformats.org/drawingml/2006/main" w="9525">
            <a:solidFill>
              <a:srgbClr val="3B4050"/>
            </a:solidFill>
            <a:prstDash val="solid"/>
          </a:ln>
        </p:spPr>
      </p:sp>
      <p:sp>
        <p:nvSpPr>
          <p:cNvPr id="25" name="qa-number-5">
            <a:extLst xmlns:a="http://schemas.openxmlformats.org/drawingml/2006/main">
              <a:ext uri="{FF2B5EF4-FFF2-40B4-BE49-F238E27FC236}">
                <a16:creationId xmlns:a16="http://schemas.microsoft.com/office/drawing/2014/main" id="{9D8B38BA-ACD8-4DFE-AA57-BC277B0E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0D4E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qa-title-5">
            <a:extLst xmlns:a="http://schemas.openxmlformats.org/drawingml/2006/main">
              <a:ext uri="{FF2B5EF4-FFF2-40B4-BE49-F238E27FC236}">
                <a16:creationId xmlns:a16="http://schemas.microsoft.com/office/drawing/2014/main" id="{E394C54A-27D1-4306-90BF-0D4772DC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27" name="qa-value-5">
            <a:extLst xmlns:a="http://schemas.openxmlformats.org/drawingml/2006/main">
              <a:ext uri="{FF2B5EF4-FFF2-40B4-BE49-F238E27FC236}">
                <a16:creationId xmlns:a16="http://schemas.microsoft.com/office/drawing/2014/main" id="{1C5B8150-E707-4919-9171-3A4E2AB0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Return to Home, relaunch and confirm saved state remains stable.</a:t>
            </a:r>
          </a:p>
        </p:txBody>
      </p:sp>
      <p:sp>
        <p:nvSpPr>
          <p:cNvPr id="28" name="qa-footer-panel">
            <a:extLst xmlns:a="http://schemas.openxmlformats.org/drawingml/2006/main">
              <a:ext uri="{FF2B5EF4-FFF2-40B4-BE49-F238E27FC236}">
                <a16:creationId xmlns:a16="http://schemas.microsoft.com/office/drawing/2014/main" id="{B026BD23-3155-4BDB-8F2E-6F01459D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326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qa-pending">
            <a:extLst xmlns:a="http://schemas.openxmlformats.org/drawingml/2006/main">
              <a:ext uri="{FF2B5EF4-FFF2-40B4-BE49-F238E27FC236}">
                <a16:creationId xmlns:a16="http://schemas.microsoft.com/office/drawing/2014/main" id="{E18F9171-EE99-4963-A952-CC77932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F7F8FC"/>
                </a:solidFill>
                <a:latin typeface="Helvetica Neue"/>
                <a:ea typeface="Helvetica Neue"/>
                <a:cs typeface="Helvetica Neue"/>
              </a:rPr>
              <a:t>Pending publisher input: test account, configured provider/add-on, approved country/model groups, privacy/support contacts and final rating.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1F879B2-F557-4EAE-8184-43E448AF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179C5D3C-B0D7-423B-B7A1-173BE95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AEB4C4"/>
                </a:solidFill>
                <a:latin typeface="Helvetica Neue"/>
                <a:ea typeface="Helvetica Neue"/>
                <a:cs typeface="Helvetica Neue"/>
              </a:rPr>
              <a:t>Nuvio TV • Samsung TV UI Description • submission draft</a:t>
            </a:r>
          </a:p>
        </p:txBody>
      </p:sp>
    </p:spTree>
    <p:extLst>
      <p:ext uri="{BB962C8B-B14F-4D97-AF65-F5344CB8AC3E}">
        <p14:creationId xmlns:p14="http://schemas.microsoft.com/office/powerpoint/2010/main" val="1669130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2026-08-22T15:36:03.0020000Z</dcterms:created>
  <dcterms:modified xsi:type="dcterms:W3CDTF">2026-08-22T15:36:03.0020000Z</dcterms:modified>
</coreProperties>
</file>